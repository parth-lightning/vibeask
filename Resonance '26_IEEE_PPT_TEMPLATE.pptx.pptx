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imes New Roman Bold" charset="1" panose="02020803070505020304"/>
      <p:regular r:id="rId24"/>
    </p:embeddedFont>
    <p:embeddedFont>
      <p:font typeface="Times New Roman" charset="1" panose="02020603050405020304"/>
      <p:regular r:id="rId25"/>
    </p:embeddedFont>
    <p:embeddedFont>
      <p:font typeface="Times New Roman MT Bold" charset="1" panose="02030802070405020303"/>
      <p:regular r:id="rId26"/>
    </p:embeddedFont>
    <p:embeddedFont>
      <p:font typeface="Times New Roman MT" charset="1" panose="02030502070405020303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  <p:embeddedFont>
      <p:font typeface="Arimo" charset="1" panose="020B0604020202020204"/>
      <p:regular r:id="rId30"/>
    </p:embeddedFont>
    <p:embeddedFont>
      <p:font typeface="Anton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655448" y="1635252"/>
          <a:ext cx="14977103" cy="1190625"/>
        </p:xfrm>
        <a:graphic>
          <a:graphicData uri="http://schemas.openxmlformats.org/drawingml/2006/table">
            <a:tbl>
              <a:tblPr/>
              <a:tblGrid>
                <a:gridCol w="14977103"/>
              </a:tblGrid>
              <a:tr h="1190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55"/>
                        </a:lnSpc>
                        <a:defRPr/>
                      </a:pPr>
                      <a:r>
                        <a:rPr lang="en-US" b="true" sz="3682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VIBEASK– </a:t>
                      </a:r>
                      <a:r>
                        <a:rPr lang="en-US" sz="3682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AI-POWERED PERSONALIZED LEARNING ECOSYSTEM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572133" y="7698191"/>
          <a:ext cx="9143734" cy="1743075"/>
        </p:xfrm>
        <a:graphic>
          <a:graphicData uri="http://schemas.openxmlformats.org/drawingml/2006/table">
            <a:tbl>
              <a:tblPr/>
              <a:tblGrid>
                <a:gridCol w="9143734"/>
              </a:tblGrid>
              <a:tr h="1743075">
                <a:tc>
                  <a:txBody>
                    <a:bodyPr anchor="t" rtlCol="false"/>
                    <a:lstStyle/>
                    <a:p>
                      <a:pPr algn="l" marL="730173" indent="-365087" lvl="1">
                        <a:lnSpc>
                          <a:spcPts val="4734"/>
                        </a:lnSpc>
                        <a:buAutoNum type="arabicPeriod" startAt="1"/>
                        <a:defRPr/>
                      </a:pPr>
                      <a:r>
                        <a:rPr lang="en-US" sz="338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Shrivardhan Patil             2. Parth Patil</a:t>
                      </a:r>
                      <a:endParaRPr lang="en-US" sz="1100"/>
                    </a:p>
                    <a:p>
                      <a:pPr algn="l" marL="730174" indent="-365087" lvl="1">
                        <a:lnSpc>
                          <a:spcPts val="4735"/>
                        </a:lnSpc>
                        <a:buAutoNum type="arabicPeriod" startAt="1"/>
                      </a:pPr>
                      <a:r>
                        <a:rPr lang="en-US" sz="3382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Sudarshan Patil                4. Pruthviraj Pawar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156200" y="5233475"/>
          <a:ext cx="7975600" cy="1130300"/>
        </p:xfrm>
        <a:graphic>
          <a:graphicData uri="http://schemas.openxmlformats.org/drawingml/2006/table">
            <a:tbl>
              <a:tblPr/>
              <a:tblGrid>
                <a:gridCol w="7975600"/>
              </a:tblGrid>
              <a:tr h="1130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14"/>
                        </a:lnSpc>
                        <a:defRPr/>
                      </a:pPr>
                      <a:r>
                        <a:rPr lang="en-US" sz="3082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T</a:t>
                      </a:r>
                      <a:r>
                        <a:rPr lang="en-US" sz="3082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eam Dhurandhar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7730314" y="4653176"/>
            <a:ext cx="2827372" cy="57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2"/>
              </a:lnSpc>
            </a:pPr>
            <a:r>
              <a:rPr lang="en-US" sz="269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927523" y="-85334"/>
            <a:ext cx="4935969" cy="1829914"/>
            <a:chOff x="0" y="0"/>
            <a:chExt cx="6581292" cy="24398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1267" cy="2439924"/>
            </a:xfrm>
            <a:custGeom>
              <a:avLst/>
              <a:gdLst/>
              <a:ahLst/>
              <a:cxnLst/>
              <a:rect r="r" b="b" t="t" l="l"/>
              <a:pathLst>
                <a:path h="2439924" w="6581267">
                  <a:moveTo>
                    <a:pt x="0" y="0"/>
                  </a:moveTo>
                  <a:lnTo>
                    <a:pt x="6581267" y="0"/>
                  </a:lnTo>
                  <a:lnTo>
                    <a:pt x="6581267" y="2439924"/>
                  </a:lnTo>
                  <a:lnTo>
                    <a:pt x="0" y="2439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2" r="0" b="-7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927523" y="6886604"/>
            <a:ext cx="4432954" cy="57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2"/>
              </a:lnSpc>
            </a:pPr>
            <a:r>
              <a:rPr lang="en-US" sz="269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Teammates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30277" y="3321177"/>
            <a:ext cx="6130461" cy="81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6"/>
              </a:lnSpc>
            </a:pPr>
            <a:r>
              <a:rPr lang="en-US" sz="372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 ID :- </a:t>
            </a:r>
            <a:r>
              <a:rPr lang="en-US" sz="3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(here)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154006" y="1108475"/>
            <a:ext cx="9219000" cy="99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6"/>
              </a:lnSpc>
            </a:pPr>
            <a:r>
              <a:rPr lang="en-US" sz="560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Index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5495" y="3643574"/>
            <a:ext cx="8458011" cy="381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2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 Problem Statement</a:t>
            </a:r>
          </a:p>
          <a:p>
            <a:pPr algn="l">
              <a:lnSpc>
                <a:spcPts val="10252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2. Proposed Solution</a:t>
            </a:r>
          </a:p>
          <a:p>
            <a:pPr algn="l">
              <a:lnSpc>
                <a:spcPts val="10252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3. Implementation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4494" y="3643574"/>
            <a:ext cx="8458011" cy="381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2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4. Tech Stack</a:t>
            </a:r>
          </a:p>
          <a:p>
            <a:pPr algn="l">
              <a:lnSpc>
                <a:spcPts val="10252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5. Impact and use case</a:t>
            </a:r>
          </a:p>
          <a:p>
            <a:pPr algn="l">
              <a:lnSpc>
                <a:spcPts val="10252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6. Business Model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10250" y="409027"/>
            <a:ext cx="13170423" cy="99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6"/>
              </a:lnSpc>
            </a:pPr>
            <a:r>
              <a:rPr lang="en-US" sz="560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 &amp; Problem Statement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6535" y="2927105"/>
            <a:ext cx="16999906" cy="708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 70% of aspirants rely on YouTube for learning  </a:t>
            </a:r>
          </a:p>
          <a:p>
            <a:pPr algn="just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 Students watch 3–4 videos to solve a single question  </a:t>
            </a:r>
          </a:p>
          <a:p>
            <a:pPr algn="just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 Over 80% understand theory but fail in problem-solving  </a:t>
            </a:r>
          </a:p>
          <a:p>
            <a:pPr algn="just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 Lack of on-demand expert guidance (Tier 2/3 cities)  </a:t>
            </a:r>
          </a:p>
          <a:p>
            <a:pPr algn="just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 Learning is fragmented across multiple platforms  </a:t>
            </a:r>
          </a:p>
          <a:p>
            <a:pPr algn="just">
              <a:lnSpc>
                <a:spcPts val="6160"/>
              </a:lnSpc>
            </a:pPr>
          </a:p>
          <a:p>
            <a:pPr algn="just">
              <a:lnSpc>
                <a:spcPts val="6160"/>
              </a:lnSpc>
            </a:pPr>
            <a:r>
              <a:rPr lang="en-US" sz="44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Problem:</a:t>
            </a:r>
          </a:p>
          <a:p>
            <a:pPr algn="just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unified, intelligent system for active, structured, and personalized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9312" y="1928108"/>
            <a:ext cx="8894688" cy="84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Critical Statistics(Aspirant Lens)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5097" y="1900104"/>
            <a:ext cx="4485893" cy="1849247"/>
            <a:chOff x="0" y="0"/>
            <a:chExt cx="985843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5843" cy="406400"/>
            </a:xfrm>
            <a:custGeom>
              <a:avLst/>
              <a:gdLst/>
              <a:ahLst/>
              <a:cxnLst/>
              <a:rect r="r" b="b" t="t" l="l"/>
              <a:pathLst>
                <a:path h="406400" w="985843">
                  <a:moveTo>
                    <a:pt x="985843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985843" y="406400"/>
                  </a:lnTo>
                  <a:lnTo>
                    <a:pt x="884243" y="203200"/>
                  </a:lnTo>
                  <a:lnTo>
                    <a:pt x="985843" y="0"/>
                  </a:lnTo>
                  <a:close/>
                </a:path>
              </a:pathLst>
            </a:custGeom>
            <a:solidFill>
              <a:srgbClr val="0097B2">
                <a:alpha val="4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88900" y="-38100"/>
              <a:ext cx="80804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64250" y="466317"/>
            <a:ext cx="13849050" cy="902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8"/>
              </a:lnSpc>
            </a:pPr>
            <a:r>
              <a:rPr lang="en-US" sz="514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Learning Challenges(JEE / NEET Focused)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79190" y="3749351"/>
            <a:ext cx="7657706" cy="5898661"/>
            <a:chOff x="0" y="0"/>
            <a:chExt cx="2016844" cy="15535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6845" cy="1553557"/>
            </a:xfrm>
            <a:custGeom>
              <a:avLst/>
              <a:gdLst/>
              <a:ahLst/>
              <a:cxnLst/>
              <a:rect r="r" b="b" t="t" l="l"/>
              <a:pathLst>
                <a:path h="1553557" w="2016845">
                  <a:moveTo>
                    <a:pt x="17187" y="0"/>
                  </a:moveTo>
                  <a:lnTo>
                    <a:pt x="1999658" y="0"/>
                  </a:lnTo>
                  <a:cubicBezTo>
                    <a:pt x="2009150" y="0"/>
                    <a:pt x="2016845" y="7695"/>
                    <a:pt x="2016845" y="17187"/>
                  </a:cubicBezTo>
                  <a:lnTo>
                    <a:pt x="2016845" y="1536370"/>
                  </a:lnTo>
                  <a:cubicBezTo>
                    <a:pt x="2016845" y="1545862"/>
                    <a:pt x="2009150" y="1553557"/>
                    <a:pt x="1999658" y="1553557"/>
                  </a:cubicBezTo>
                  <a:lnTo>
                    <a:pt x="17187" y="1553557"/>
                  </a:lnTo>
                  <a:cubicBezTo>
                    <a:pt x="7695" y="1553557"/>
                    <a:pt x="0" y="1545862"/>
                    <a:pt x="0" y="1536370"/>
                  </a:cubicBezTo>
                  <a:lnTo>
                    <a:pt x="0" y="17187"/>
                  </a:lnTo>
                  <a:cubicBezTo>
                    <a:pt x="0" y="7695"/>
                    <a:pt x="7695" y="0"/>
                    <a:pt x="17187" y="0"/>
                  </a:cubicBezTo>
                  <a:close/>
                </a:path>
              </a:pathLst>
            </a:custGeom>
            <a:solidFill>
              <a:srgbClr val="CCCCCC">
                <a:alpha val="9764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16844" cy="159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619975" y="1928108"/>
            <a:ext cx="3376136" cy="162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Passive </a:t>
            </a:r>
          </a:p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Learning Trap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0007" y="3831298"/>
            <a:ext cx="7195390" cy="576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047" indent="-348524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Passive Learning Trap</a:t>
            </a:r>
          </a:p>
          <a:p>
            <a:pPr algn="l" marL="697047" indent="-348524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</a:t>
            </a: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udents hunt for the “perfect explanation video” instead of solving</a:t>
            </a:r>
          </a:p>
          <a:p>
            <a:pPr algn="l" marL="697047" indent="-348524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Visual understanding ≠ exam-ready problem solving</a:t>
            </a:r>
          </a:p>
          <a:p>
            <a:pPr algn="l" marL="697047" indent="-348524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When stuck mid-question, there’s no intelligent way to ask “WHY THIS step?”</a:t>
            </a:r>
          </a:p>
          <a:p>
            <a:pPr algn="l" marL="697047" indent="-348524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Active recall tools exist — but outside the actual learning flow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026268" y="1900942"/>
            <a:ext cx="4739893" cy="1849247"/>
            <a:chOff x="0" y="0"/>
            <a:chExt cx="1041663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1663" cy="406400"/>
            </a:xfrm>
            <a:custGeom>
              <a:avLst/>
              <a:gdLst/>
              <a:ahLst/>
              <a:cxnLst/>
              <a:rect r="r" b="b" t="t" l="l"/>
              <a:pathLst>
                <a:path h="406400" w="1041663">
                  <a:moveTo>
                    <a:pt x="1041663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1041663" y="406400"/>
                  </a:lnTo>
                  <a:lnTo>
                    <a:pt x="940063" y="203200"/>
                  </a:lnTo>
                  <a:lnTo>
                    <a:pt x="1041663" y="0"/>
                  </a:lnTo>
                  <a:close/>
                </a:path>
              </a:pathLst>
            </a:custGeom>
            <a:solidFill>
              <a:srgbClr val="0097B2">
                <a:alpha val="4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88900" y="-38100"/>
              <a:ext cx="86386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55594" y="3749351"/>
            <a:ext cx="7657706" cy="5898661"/>
            <a:chOff x="0" y="0"/>
            <a:chExt cx="2016844" cy="15535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6845" cy="1553557"/>
            </a:xfrm>
            <a:custGeom>
              <a:avLst/>
              <a:gdLst/>
              <a:ahLst/>
              <a:cxnLst/>
              <a:rect r="r" b="b" t="t" l="l"/>
              <a:pathLst>
                <a:path h="1553557" w="2016845">
                  <a:moveTo>
                    <a:pt x="17187" y="0"/>
                  </a:moveTo>
                  <a:lnTo>
                    <a:pt x="1999658" y="0"/>
                  </a:lnTo>
                  <a:cubicBezTo>
                    <a:pt x="2009150" y="0"/>
                    <a:pt x="2016845" y="7695"/>
                    <a:pt x="2016845" y="17187"/>
                  </a:cubicBezTo>
                  <a:lnTo>
                    <a:pt x="2016845" y="1536370"/>
                  </a:lnTo>
                  <a:cubicBezTo>
                    <a:pt x="2016845" y="1545862"/>
                    <a:pt x="2009150" y="1553557"/>
                    <a:pt x="1999658" y="1553557"/>
                  </a:cubicBezTo>
                  <a:lnTo>
                    <a:pt x="17187" y="1553557"/>
                  </a:lnTo>
                  <a:cubicBezTo>
                    <a:pt x="7695" y="1553557"/>
                    <a:pt x="0" y="1545862"/>
                    <a:pt x="0" y="1536370"/>
                  </a:cubicBezTo>
                  <a:lnTo>
                    <a:pt x="0" y="17187"/>
                  </a:lnTo>
                  <a:cubicBezTo>
                    <a:pt x="0" y="7695"/>
                    <a:pt x="7695" y="0"/>
                    <a:pt x="17187" y="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16844" cy="159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82773" y="1973344"/>
            <a:ext cx="4226883" cy="15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4"/>
              </a:lnSpc>
              <a:spcBef>
                <a:spcPct val="0"/>
              </a:spcBef>
            </a:pPr>
            <a:r>
              <a:rPr lang="en-US" b="true" sz="4145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Solution Impact Potential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55594" y="4158926"/>
            <a:ext cx="7081242" cy="352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Fragmentation Problem</a:t>
            </a:r>
          </a:p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Lecture on one app</a:t>
            </a:r>
          </a:p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Doubts on another</a:t>
            </a:r>
          </a:p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Notes somewhere else</a:t>
            </a:r>
          </a:p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Test analysis nowhere</a:t>
            </a:r>
          </a:p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Learning is scattered, not structured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6097" y="1900104"/>
            <a:ext cx="3520693" cy="1849247"/>
            <a:chOff x="0" y="0"/>
            <a:chExt cx="773726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3726" cy="406400"/>
            </a:xfrm>
            <a:custGeom>
              <a:avLst/>
              <a:gdLst/>
              <a:ahLst/>
              <a:cxnLst/>
              <a:rect r="r" b="b" t="t" l="l"/>
              <a:pathLst>
                <a:path h="406400" w="773726">
                  <a:moveTo>
                    <a:pt x="773726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773726" y="406400"/>
                  </a:lnTo>
                  <a:lnTo>
                    <a:pt x="672126" y="203200"/>
                  </a:lnTo>
                  <a:lnTo>
                    <a:pt x="773726" y="0"/>
                  </a:lnTo>
                  <a:close/>
                </a:path>
              </a:pathLst>
            </a:custGeom>
            <a:solidFill>
              <a:srgbClr val="5E17EB">
                <a:alpha val="3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88900" y="-38100"/>
              <a:ext cx="59592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64250" y="466317"/>
            <a:ext cx="13849050" cy="902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8"/>
              </a:lnSpc>
            </a:pPr>
            <a:r>
              <a:rPr lang="en-US" sz="514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Learning Challenges(JEE / NEET Focused)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79190" y="3749351"/>
            <a:ext cx="7657706" cy="5898661"/>
            <a:chOff x="0" y="0"/>
            <a:chExt cx="2016844" cy="15535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6845" cy="1553557"/>
            </a:xfrm>
            <a:custGeom>
              <a:avLst/>
              <a:gdLst/>
              <a:ahLst/>
              <a:cxnLst/>
              <a:rect r="r" b="b" t="t" l="l"/>
              <a:pathLst>
                <a:path h="1553557" w="2016845">
                  <a:moveTo>
                    <a:pt x="17187" y="0"/>
                  </a:moveTo>
                  <a:lnTo>
                    <a:pt x="1999658" y="0"/>
                  </a:lnTo>
                  <a:cubicBezTo>
                    <a:pt x="2009150" y="0"/>
                    <a:pt x="2016845" y="7695"/>
                    <a:pt x="2016845" y="17187"/>
                  </a:cubicBezTo>
                  <a:lnTo>
                    <a:pt x="2016845" y="1536370"/>
                  </a:lnTo>
                  <a:cubicBezTo>
                    <a:pt x="2016845" y="1545862"/>
                    <a:pt x="2009150" y="1553557"/>
                    <a:pt x="1999658" y="1553557"/>
                  </a:cubicBezTo>
                  <a:lnTo>
                    <a:pt x="17187" y="1553557"/>
                  </a:lnTo>
                  <a:cubicBezTo>
                    <a:pt x="7695" y="1553557"/>
                    <a:pt x="0" y="1545862"/>
                    <a:pt x="0" y="1536370"/>
                  </a:cubicBezTo>
                  <a:lnTo>
                    <a:pt x="0" y="17187"/>
                  </a:lnTo>
                  <a:cubicBezTo>
                    <a:pt x="0" y="7695"/>
                    <a:pt x="7695" y="0"/>
                    <a:pt x="17187" y="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16844" cy="159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998177" y="1973344"/>
            <a:ext cx="2619732" cy="162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Credibility </a:t>
            </a:r>
          </a:p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Gap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0007" y="3831298"/>
            <a:ext cx="7195390" cy="519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047" indent="-348524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Credibility &amp; Accuracy Gap</a:t>
            </a:r>
          </a:p>
          <a:p>
            <a:pPr algn="l" marL="697047" indent="-348524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 tools of</a:t>
            </a: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 hallucinate theory or oversimplify formulas</a:t>
            </a:r>
          </a:p>
          <a:p>
            <a:pPr algn="l" marL="697047" indent="-348524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Students hesitate to trust answers without textbook reference</a:t>
            </a:r>
          </a:p>
          <a:p>
            <a:pPr algn="l" marL="697047" indent="-348524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NCERT line-by-line accuracy matters — especially for NEET</a:t>
            </a:r>
          </a:p>
          <a:p>
            <a:pPr algn="l" marL="697047" indent="-348524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One wrong assumption = negative marking in exams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026268" y="1900942"/>
            <a:ext cx="4739893" cy="1849247"/>
            <a:chOff x="0" y="0"/>
            <a:chExt cx="1041663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1663" cy="406400"/>
            </a:xfrm>
            <a:custGeom>
              <a:avLst/>
              <a:gdLst/>
              <a:ahLst/>
              <a:cxnLst/>
              <a:rect r="r" b="b" t="t" l="l"/>
              <a:pathLst>
                <a:path h="406400" w="1041663">
                  <a:moveTo>
                    <a:pt x="1041663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1041663" y="406400"/>
                  </a:lnTo>
                  <a:lnTo>
                    <a:pt x="940063" y="203200"/>
                  </a:lnTo>
                  <a:lnTo>
                    <a:pt x="1041663" y="0"/>
                  </a:lnTo>
                  <a:close/>
                </a:path>
              </a:pathLst>
            </a:custGeom>
            <a:solidFill>
              <a:srgbClr val="5E17EB">
                <a:alpha val="3882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88900" y="-38100"/>
              <a:ext cx="86386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55594" y="3749351"/>
            <a:ext cx="7657706" cy="5898661"/>
            <a:chOff x="0" y="0"/>
            <a:chExt cx="2016844" cy="15535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6845" cy="1553557"/>
            </a:xfrm>
            <a:custGeom>
              <a:avLst/>
              <a:gdLst/>
              <a:ahLst/>
              <a:cxnLst/>
              <a:rect r="r" b="b" t="t" l="l"/>
              <a:pathLst>
                <a:path h="1553557" w="2016845">
                  <a:moveTo>
                    <a:pt x="17187" y="0"/>
                  </a:moveTo>
                  <a:lnTo>
                    <a:pt x="1999658" y="0"/>
                  </a:lnTo>
                  <a:cubicBezTo>
                    <a:pt x="2009150" y="0"/>
                    <a:pt x="2016845" y="7695"/>
                    <a:pt x="2016845" y="17187"/>
                  </a:cubicBezTo>
                  <a:lnTo>
                    <a:pt x="2016845" y="1536370"/>
                  </a:lnTo>
                  <a:cubicBezTo>
                    <a:pt x="2016845" y="1545862"/>
                    <a:pt x="2009150" y="1553557"/>
                    <a:pt x="1999658" y="1553557"/>
                  </a:cubicBezTo>
                  <a:lnTo>
                    <a:pt x="17187" y="1553557"/>
                  </a:lnTo>
                  <a:cubicBezTo>
                    <a:pt x="7695" y="1553557"/>
                    <a:pt x="0" y="1545862"/>
                    <a:pt x="0" y="1536370"/>
                  </a:cubicBezTo>
                  <a:lnTo>
                    <a:pt x="0" y="17187"/>
                  </a:lnTo>
                  <a:cubicBezTo>
                    <a:pt x="0" y="7695"/>
                    <a:pt x="7695" y="0"/>
                    <a:pt x="17187" y="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16844" cy="159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82773" y="1973344"/>
            <a:ext cx="4226883" cy="15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4"/>
              </a:lnSpc>
            </a:pPr>
            <a:r>
              <a:rPr lang="en-US" sz="4145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 </a:t>
            </a:r>
          </a:p>
          <a:p>
            <a:pPr algn="ctr">
              <a:lnSpc>
                <a:spcPts val="5804"/>
              </a:lnSpc>
              <a:spcBef>
                <a:spcPct val="0"/>
              </a:spcBef>
            </a:pPr>
            <a:r>
              <a:rPr lang="en-US" b="true" sz="4145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Personalization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26994" y="3831298"/>
            <a:ext cx="8432406" cy="410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Personalization, No Memory</a:t>
            </a:r>
          </a:p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Tools don’t remember : </a:t>
            </a:r>
          </a:p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chapter you’re on</a:t>
            </a:r>
          </a:p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Where you usually get stuck</a:t>
            </a:r>
          </a:p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Whether you’re visual or step-driven</a:t>
            </a:r>
          </a:p>
          <a:p>
            <a:pPr algn="l" marL="707021" indent="-353511" lvl="1">
              <a:lnSpc>
                <a:spcPts val="4584"/>
              </a:lnSpc>
              <a:buFont typeface="Arial"/>
              <a:buChar char="•"/>
            </a:pPr>
            <a:r>
              <a:rPr lang="en-US" sz="327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Every doubt feels like starting from zero again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452196"/>
            <a:ext cx="9219000" cy="103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6"/>
              </a:lnSpc>
            </a:pPr>
            <a:r>
              <a:rPr lang="en-US" sz="58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944" y="1432324"/>
            <a:ext cx="17068112" cy="857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29"/>
              </a:lnSpc>
            </a:pPr>
            <a:r>
              <a:rPr lang="en-US" sz="374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Struggle to Mastery :</a:t>
            </a:r>
          </a:p>
          <a:p>
            <a:pPr algn="l" marL="808809" indent="-404405" lvl="1">
              <a:lnSpc>
                <a:spcPts val="2397"/>
              </a:lnSpc>
              <a:buFont typeface="Arial"/>
              <a:buChar char="•"/>
            </a:pPr>
            <a:r>
              <a:rPr lang="en-US" sz="37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endless video searching with instant, interactive doubt-solving</a:t>
            </a:r>
          </a:p>
          <a:p>
            <a:pPr algn="l" marL="808809" indent="-404405" lvl="1">
              <a:lnSpc>
                <a:spcPts val="5469"/>
              </a:lnSpc>
              <a:buFont typeface="Arial"/>
              <a:buChar char="•"/>
            </a:pPr>
            <a:r>
              <a:rPr lang="en-US" sz="37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 JEE/NEET aspirants from passive learners to confident problem-solvers</a:t>
            </a:r>
          </a:p>
          <a:p>
            <a:pPr algn="just" marL="766241" indent="-383121" lvl="1">
              <a:lnSpc>
                <a:spcPts val="4968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Bridge the critical "I understand theory but can’t solve problems" gap through AI-powered step-by-step guidance</a:t>
            </a:r>
          </a:p>
          <a:p>
            <a:pPr algn="just">
              <a:lnSpc>
                <a:spcPts val="5244"/>
              </a:lnSpc>
            </a:pPr>
            <a:r>
              <a:rPr lang="en-US" sz="374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Integrated Learning Ecosystem : </a:t>
            </a:r>
          </a:p>
          <a:p>
            <a:pPr algn="l" marL="808809" indent="-404405" lvl="1">
              <a:lnSpc>
                <a:spcPts val="5244"/>
              </a:lnSpc>
              <a:buFont typeface="Arial"/>
              <a:buChar char="•"/>
            </a:pPr>
            <a:r>
              <a:rPr lang="en-US" sz="37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All-in-one platform connecting handwritten questions, subject-expert AI agents, visual animations, and verified textbook references</a:t>
            </a:r>
          </a:p>
          <a:p>
            <a:pPr algn="l" marL="808809" indent="-404405" lvl="1">
              <a:lnSpc>
                <a:spcPts val="5244"/>
              </a:lnSpc>
              <a:buFont typeface="Arial"/>
              <a:buChar char="•"/>
            </a:pPr>
            <a:r>
              <a:rPr lang="en-US" sz="37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personalization that remembers each student’s learning journey and adapts explanations to their level</a:t>
            </a:r>
          </a:p>
          <a:p>
            <a:pPr algn="l" marL="808809" indent="-404405" lvl="1">
              <a:lnSpc>
                <a:spcPts val="5244"/>
              </a:lnSpc>
              <a:buFont typeface="Arial"/>
              <a:buChar char="•"/>
            </a:pPr>
            <a:r>
              <a:rPr lang="en-US" sz="37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question bank that suggests targeted JEE/NEET practice problems</a:t>
            </a:r>
          </a:p>
          <a:p>
            <a:pPr algn="l" marL="808809" indent="-404405" lvl="1">
              <a:lnSpc>
                <a:spcPts val="5244"/>
              </a:lnSpc>
              <a:buFont typeface="Arial"/>
              <a:buChar char="•"/>
            </a:pPr>
            <a:r>
              <a:rPr lang="en-US" sz="37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solutions rendered step-wise, allowing students to pause and clarify doubts anytime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12465" y="461721"/>
            <a:ext cx="2663071" cy="104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VibeAsk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54337" y="282176"/>
            <a:ext cx="3379325" cy="1493047"/>
            <a:chOff x="0" y="0"/>
            <a:chExt cx="919835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9835" cy="406400"/>
            </a:xfrm>
            <a:custGeom>
              <a:avLst/>
              <a:gdLst/>
              <a:ahLst/>
              <a:cxnLst/>
              <a:rect r="r" b="b" t="t" l="l"/>
              <a:pathLst>
                <a:path h="406400" w="919835">
                  <a:moveTo>
                    <a:pt x="716635" y="0"/>
                  </a:moveTo>
                  <a:cubicBezTo>
                    <a:pt x="828860" y="0"/>
                    <a:pt x="919835" y="90976"/>
                    <a:pt x="919835" y="203200"/>
                  </a:cubicBezTo>
                  <a:cubicBezTo>
                    <a:pt x="919835" y="315424"/>
                    <a:pt x="828860" y="406400"/>
                    <a:pt x="7166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983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42300" y="225217"/>
            <a:ext cx="13043904" cy="187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8"/>
              </a:lnSpc>
            </a:pPr>
            <a:r>
              <a:rPr lang="en-US" sz="530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</a:t>
            </a:r>
            <a:r>
              <a:rPr lang="en-US" sz="530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ersonalized Learning Roadmap </a:t>
            </a:r>
          </a:p>
          <a:p>
            <a:pPr algn="ctr">
              <a:lnSpc>
                <a:spcPts val="7428"/>
              </a:lnSpc>
            </a:pPr>
            <a:r>
              <a:rPr lang="en-US" sz="530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— How VibeAsk Adapts to You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96185" y="2364976"/>
            <a:ext cx="3379325" cy="1493047"/>
            <a:chOff x="0" y="0"/>
            <a:chExt cx="919835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9835" cy="406400"/>
            </a:xfrm>
            <a:custGeom>
              <a:avLst/>
              <a:gdLst/>
              <a:ahLst/>
              <a:cxnLst/>
              <a:rect r="r" b="b" t="t" l="l"/>
              <a:pathLst>
                <a:path h="406400" w="919835">
                  <a:moveTo>
                    <a:pt x="716635" y="0"/>
                  </a:moveTo>
                  <a:cubicBezTo>
                    <a:pt x="828860" y="0"/>
                    <a:pt x="919835" y="90976"/>
                    <a:pt x="919835" y="203200"/>
                  </a:cubicBezTo>
                  <a:cubicBezTo>
                    <a:pt x="919835" y="315424"/>
                    <a:pt x="828860" y="406400"/>
                    <a:pt x="7166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983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68532" y="2364976"/>
            <a:ext cx="3379325" cy="1493047"/>
            <a:chOff x="0" y="0"/>
            <a:chExt cx="919835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9835" cy="406400"/>
            </a:xfrm>
            <a:custGeom>
              <a:avLst/>
              <a:gdLst/>
              <a:ahLst/>
              <a:cxnLst/>
              <a:rect r="r" b="b" t="t" l="l"/>
              <a:pathLst>
                <a:path h="406400" w="919835">
                  <a:moveTo>
                    <a:pt x="716635" y="0"/>
                  </a:moveTo>
                  <a:cubicBezTo>
                    <a:pt x="828860" y="0"/>
                    <a:pt x="919835" y="90976"/>
                    <a:pt x="919835" y="203200"/>
                  </a:cubicBezTo>
                  <a:cubicBezTo>
                    <a:pt x="919835" y="315424"/>
                    <a:pt x="828860" y="406400"/>
                    <a:pt x="7166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983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24082" y="2364976"/>
            <a:ext cx="3379325" cy="1493047"/>
            <a:chOff x="0" y="0"/>
            <a:chExt cx="919835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9835" cy="406400"/>
            </a:xfrm>
            <a:custGeom>
              <a:avLst/>
              <a:gdLst/>
              <a:ahLst/>
              <a:cxnLst/>
              <a:rect r="r" b="b" t="t" l="l"/>
              <a:pathLst>
                <a:path h="406400" w="919835">
                  <a:moveTo>
                    <a:pt x="716635" y="0"/>
                  </a:moveTo>
                  <a:cubicBezTo>
                    <a:pt x="828860" y="0"/>
                    <a:pt x="919835" y="90976"/>
                    <a:pt x="919835" y="203200"/>
                  </a:cubicBezTo>
                  <a:cubicBezTo>
                    <a:pt x="919835" y="315424"/>
                    <a:pt x="828860" y="406400"/>
                    <a:pt x="7166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1983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79632" y="2364976"/>
            <a:ext cx="3379325" cy="1493047"/>
            <a:chOff x="0" y="0"/>
            <a:chExt cx="919835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9835" cy="406400"/>
            </a:xfrm>
            <a:custGeom>
              <a:avLst/>
              <a:gdLst/>
              <a:ahLst/>
              <a:cxnLst/>
              <a:rect r="r" b="b" t="t" l="l"/>
              <a:pathLst>
                <a:path h="406400" w="919835">
                  <a:moveTo>
                    <a:pt x="716635" y="0"/>
                  </a:moveTo>
                  <a:cubicBezTo>
                    <a:pt x="828860" y="0"/>
                    <a:pt x="919835" y="90976"/>
                    <a:pt x="919835" y="203200"/>
                  </a:cubicBezTo>
                  <a:cubicBezTo>
                    <a:pt x="919835" y="315424"/>
                    <a:pt x="828860" y="406400"/>
                    <a:pt x="7166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983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835183" y="2364976"/>
            <a:ext cx="3379325" cy="1493047"/>
            <a:chOff x="0" y="0"/>
            <a:chExt cx="919835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9835" cy="406400"/>
            </a:xfrm>
            <a:custGeom>
              <a:avLst/>
              <a:gdLst/>
              <a:ahLst/>
              <a:cxnLst/>
              <a:rect r="r" b="b" t="t" l="l"/>
              <a:pathLst>
                <a:path h="406400" w="919835">
                  <a:moveTo>
                    <a:pt x="716635" y="0"/>
                  </a:moveTo>
                  <a:cubicBezTo>
                    <a:pt x="828860" y="0"/>
                    <a:pt x="919835" y="90976"/>
                    <a:pt x="919835" y="203200"/>
                  </a:cubicBezTo>
                  <a:cubicBezTo>
                    <a:pt x="919835" y="315424"/>
                    <a:pt x="828860" y="406400"/>
                    <a:pt x="7166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983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2451099"/>
            <a:ext cx="2098953" cy="123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agnostic 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27113" y="2451099"/>
            <a:ext cx="2062162" cy="123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 Area 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12153" y="2451099"/>
            <a:ext cx="2603183" cy="123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Topic 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48713" y="2451099"/>
            <a:ext cx="2641163" cy="123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Practice 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12573" y="2760662"/>
            <a:ext cx="3024545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Check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985848" y="3858024"/>
            <a:ext cx="4842346" cy="8536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1179632" y="3858024"/>
            <a:ext cx="5345213" cy="8536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6828194" y="4124724"/>
            <a:ext cx="4351438" cy="1493047"/>
            <a:chOff x="0" y="0"/>
            <a:chExt cx="1184440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84440" cy="406400"/>
            </a:xfrm>
            <a:custGeom>
              <a:avLst/>
              <a:gdLst/>
              <a:ahLst/>
              <a:cxnLst/>
              <a:rect r="r" b="b" t="t" l="l"/>
              <a:pathLst>
                <a:path h="406400" w="1184440">
                  <a:moveTo>
                    <a:pt x="981240" y="0"/>
                  </a:moveTo>
                  <a:cubicBezTo>
                    <a:pt x="1093464" y="0"/>
                    <a:pt x="1184440" y="90976"/>
                    <a:pt x="1184440" y="203200"/>
                  </a:cubicBezTo>
                  <a:cubicBezTo>
                    <a:pt x="1184440" y="315424"/>
                    <a:pt x="1093464" y="406400"/>
                    <a:pt x="9812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8444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127586" y="4210449"/>
            <a:ext cx="1752957" cy="123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RoadMap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3534" y="5960671"/>
            <a:ext cx="17740933" cy="319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level detection — based on diagn</a:t>
            </a: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ostic quiz &amp; first interactions (Beginner / Developing / Advanced)</a:t>
            </a:r>
          </a:p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Goal-based sequencing — roadmap based on exam target (JEE Mains / Advanced / NEET)</a:t>
            </a:r>
          </a:p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Measurable progress metrics — tracks concepts mastered, error patterns, weak topics</a:t>
            </a:r>
          </a:p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Weekly auto-update based on quiz performance &amp; doubt patterns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34500" y="666750"/>
            <a:ext cx="9998081" cy="106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9"/>
              </a:lnSpc>
            </a:pPr>
            <a:r>
              <a:rPr lang="en-US" sz="607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Features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985848" y="2635250"/>
            <a:ext cx="5981700" cy="3060700"/>
            <a:chOff x="0" y="0"/>
            <a:chExt cx="1575427" cy="8061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5427" cy="806110"/>
            </a:xfrm>
            <a:custGeom>
              <a:avLst/>
              <a:gdLst/>
              <a:ahLst/>
              <a:cxnLst/>
              <a:rect r="r" b="b" t="t" l="l"/>
              <a:pathLst>
                <a:path h="806110" w="1575427">
                  <a:moveTo>
                    <a:pt x="22003" y="0"/>
                  </a:moveTo>
                  <a:lnTo>
                    <a:pt x="1553425" y="0"/>
                  </a:lnTo>
                  <a:cubicBezTo>
                    <a:pt x="1565576" y="0"/>
                    <a:pt x="1575427" y="9851"/>
                    <a:pt x="1575427" y="22003"/>
                  </a:cubicBezTo>
                  <a:lnTo>
                    <a:pt x="1575427" y="784108"/>
                  </a:lnTo>
                  <a:cubicBezTo>
                    <a:pt x="1575427" y="796259"/>
                    <a:pt x="1565576" y="806110"/>
                    <a:pt x="1553425" y="806110"/>
                  </a:cubicBezTo>
                  <a:lnTo>
                    <a:pt x="22003" y="806110"/>
                  </a:lnTo>
                  <a:cubicBezTo>
                    <a:pt x="9851" y="806110"/>
                    <a:pt x="0" y="796259"/>
                    <a:pt x="0" y="784108"/>
                  </a:cubicBezTo>
                  <a:lnTo>
                    <a:pt x="0" y="22003"/>
                  </a:lnTo>
                  <a:cubicBezTo>
                    <a:pt x="0" y="9851"/>
                    <a:pt x="9851" y="0"/>
                    <a:pt x="22003" y="0"/>
                  </a:cubicBezTo>
                  <a:close/>
                </a:path>
              </a:pathLst>
            </a:custGeom>
            <a:solidFill>
              <a:srgbClr val="FF751F">
                <a:alpha val="4666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75427" cy="844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36653" y="3014662"/>
            <a:ext cx="5480090" cy="185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 t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markdown for 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consistent LaTeX and input, 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irrespective of the LLM model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26648" y="2635250"/>
            <a:ext cx="5981700" cy="3060700"/>
            <a:chOff x="0" y="0"/>
            <a:chExt cx="1575427" cy="8061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5427" cy="806110"/>
            </a:xfrm>
            <a:custGeom>
              <a:avLst/>
              <a:gdLst/>
              <a:ahLst/>
              <a:cxnLst/>
              <a:rect r="r" b="b" t="t" l="l"/>
              <a:pathLst>
                <a:path h="806110" w="1575427">
                  <a:moveTo>
                    <a:pt x="22003" y="0"/>
                  </a:moveTo>
                  <a:lnTo>
                    <a:pt x="1553425" y="0"/>
                  </a:lnTo>
                  <a:cubicBezTo>
                    <a:pt x="1565576" y="0"/>
                    <a:pt x="1575427" y="9851"/>
                    <a:pt x="1575427" y="22003"/>
                  </a:cubicBezTo>
                  <a:lnTo>
                    <a:pt x="1575427" y="784108"/>
                  </a:lnTo>
                  <a:cubicBezTo>
                    <a:pt x="1575427" y="796259"/>
                    <a:pt x="1565576" y="806110"/>
                    <a:pt x="1553425" y="806110"/>
                  </a:cubicBezTo>
                  <a:lnTo>
                    <a:pt x="22003" y="806110"/>
                  </a:lnTo>
                  <a:cubicBezTo>
                    <a:pt x="9851" y="806110"/>
                    <a:pt x="0" y="796259"/>
                    <a:pt x="0" y="784108"/>
                  </a:cubicBezTo>
                  <a:lnTo>
                    <a:pt x="0" y="22003"/>
                  </a:lnTo>
                  <a:cubicBezTo>
                    <a:pt x="0" y="9851"/>
                    <a:pt x="9851" y="0"/>
                    <a:pt x="22003" y="0"/>
                  </a:cubicBezTo>
                  <a:close/>
                </a:path>
              </a:pathLst>
            </a:custGeom>
            <a:solidFill>
              <a:srgbClr val="FF751F">
                <a:alpha val="46667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75427" cy="844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306576" y="3273743"/>
            <a:ext cx="5221843" cy="159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Step-wise soluti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rendering </a:t>
            </a:r>
          </a:p>
          <a:p>
            <a:pPr algn="ctr">
              <a:lnSpc>
                <a:spcPts val="416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users can ask </a:t>
            </a:r>
          </a:p>
          <a:p>
            <a:pPr algn="ctr">
              <a:lnSpc>
                <a:spcPts val="416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on each step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42691" y="6394450"/>
            <a:ext cx="5981700" cy="3060700"/>
            <a:chOff x="0" y="0"/>
            <a:chExt cx="1575427" cy="8061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75427" cy="806110"/>
            </a:xfrm>
            <a:custGeom>
              <a:avLst/>
              <a:gdLst/>
              <a:ahLst/>
              <a:cxnLst/>
              <a:rect r="r" b="b" t="t" l="l"/>
              <a:pathLst>
                <a:path h="806110" w="1575427">
                  <a:moveTo>
                    <a:pt x="22003" y="0"/>
                  </a:moveTo>
                  <a:lnTo>
                    <a:pt x="1553425" y="0"/>
                  </a:lnTo>
                  <a:cubicBezTo>
                    <a:pt x="1565576" y="0"/>
                    <a:pt x="1575427" y="9851"/>
                    <a:pt x="1575427" y="22003"/>
                  </a:cubicBezTo>
                  <a:lnTo>
                    <a:pt x="1575427" y="784108"/>
                  </a:lnTo>
                  <a:cubicBezTo>
                    <a:pt x="1575427" y="796259"/>
                    <a:pt x="1565576" y="806110"/>
                    <a:pt x="1553425" y="806110"/>
                  </a:cubicBezTo>
                  <a:lnTo>
                    <a:pt x="22003" y="806110"/>
                  </a:lnTo>
                  <a:cubicBezTo>
                    <a:pt x="9851" y="806110"/>
                    <a:pt x="0" y="796259"/>
                    <a:pt x="0" y="784108"/>
                  </a:cubicBezTo>
                  <a:lnTo>
                    <a:pt x="0" y="22003"/>
                  </a:lnTo>
                  <a:cubicBezTo>
                    <a:pt x="0" y="9851"/>
                    <a:pt x="9851" y="0"/>
                    <a:pt x="22003" y="0"/>
                  </a:cubicBezTo>
                  <a:close/>
                </a:path>
              </a:pathLst>
            </a:custGeom>
            <a:solidFill>
              <a:srgbClr val="FF751F">
                <a:alpha val="46667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75427" cy="844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538232" y="7239000"/>
            <a:ext cx="3990618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rent AI agent for </a:t>
            </a:r>
          </a:p>
          <a:p>
            <a:pPr algn="ctr">
              <a:lnSpc>
                <a:spcPts val="416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subjects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40500" y="406831"/>
            <a:ext cx="10593599" cy="113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15"/>
              </a:lnSpc>
            </a:pPr>
            <a:r>
              <a:rPr lang="en-US" sz="643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Premium Features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099558"/>
            <a:ext cx="6278448" cy="2247900"/>
            <a:chOff x="0" y="0"/>
            <a:chExt cx="1653583" cy="592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3583" cy="592039"/>
            </a:xfrm>
            <a:custGeom>
              <a:avLst/>
              <a:gdLst/>
              <a:ahLst/>
              <a:cxnLst/>
              <a:rect r="r" b="b" t="t" l="l"/>
              <a:pathLst>
                <a:path h="592039" w="1653583">
                  <a:moveTo>
                    <a:pt x="20963" y="0"/>
                  </a:moveTo>
                  <a:lnTo>
                    <a:pt x="1632620" y="0"/>
                  </a:lnTo>
                  <a:cubicBezTo>
                    <a:pt x="1644198" y="0"/>
                    <a:pt x="1653583" y="9385"/>
                    <a:pt x="1653583" y="20963"/>
                  </a:cubicBezTo>
                  <a:lnTo>
                    <a:pt x="1653583" y="571077"/>
                  </a:lnTo>
                  <a:cubicBezTo>
                    <a:pt x="1653583" y="576637"/>
                    <a:pt x="1651374" y="581968"/>
                    <a:pt x="1647443" y="585900"/>
                  </a:cubicBezTo>
                  <a:cubicBezTo>
                    <a:pt x="1643512" y="589831"/>
                    <a:pt x="1638180" y="592039"/>
                    <a:pt x="1632620" y="592039"/>
                  </a:cubicBezTo>
                  <a:lnTo>
                    <a:pt x="20963" y="592039"/>
                  </a:lnTo>
                  <a:cubicBezTo>
                    <a:pt x="9385" y="592039"/>
                    <a:pt x="0" y="582654"/>
                    <a:pt x="0" y="571077"/>
                  </a:cubicBezTo>
                  <a:lnTo>
                    <a:pt x="0" y="20963"/>
                  </a:lnTo>
                  <a:cubicBezTo>
                    <a:pt x="0" y="9385"/>
                    <a:pt x="9385" y="0"/>
                    <a:pt x="20963" y="0"/>
                  </a:cubicBezTo>
                  <a:close/>
                </a:path>
              </a:pathLst>
            </a:custGeom>
            <a:solidFill>
              <a:srgbClr val="FF751F">
                <a:alpha val="4666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53583" cy="630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34231" y="2549525"/>
            <a:ext cx="5503069" cy="123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explanation to visualize 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and solutions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315726" y="2082800"/>
            <a:ext cx="8943574" cy="2264658"/>
            <a:chOff x="0" y="0"/>
            <a:chExt cx="2355509" cy="5964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55509" cy="596453"/>
            </a:xfrm>
            <a:custGeom>
              <a:avLst/>
              <a:gdLst/>
              <a:ahLst/>
              <a:cxnLst/>
              <a:rect r="r" b="b" t="t" l="l"/>
              <a:pathLst>
                <a:path h="596453" w="2355509">
                  <a:moveTo>
                    <a:pt x="14716" y="0"/>
                  </a:moveTo>
                  <a:lnTo>
                    <a:pt x="2340793" y="0"/>
                  </a:lnTo>
                  <a:cubicBezTo>
                    <a:pt x="2348921" y="0"/>
                    <a:pt x="2355509" y="6589"/>
                    <a:pt x="2355509" y="14716"/>
                  </a:cubicBezTo>
                  <a:lnTo>
                    <a:pt x="2355509" y="581737"/>
                  </a:lnTo>
                  <a:cubicBezTo>
                    <a:pt x="2355509" y="589864"/>
                    <a:pt x="2348921" y="596453"/>
                    <a:pt x="2340793" y="596453"/>
                  </a:cubicBezTo>
                  <a:lnTo>
                    <a:pt x="14716" y="596453"/>
                  </a:lnTo>
                  <a:cubicBezTo>
                    <a:pt x="6589" y="596453"/>
                    <a:pt x="0" y="589864"/>
                    <a:pt x="0" y="581737"/>
                  </a:cubicBezTo>
                  <a:lnTo>
                    <a:pt x="0" y="14716"/>
                  </a:lnTo>
                  <a:cubicBezTo>
                    <a:pt x="0" y="6589"/>
                    <a:pt x="6589" y="0"/>
                    <a:pt x="14716" y="0"/>
                  </a:cubicBezTo>
                  <a:close/>
                </a:path>
              </a:pathLst>
            </a:custGeom>
            <a:solidFill>
              <a:srgbClr val="5E17EB">
                <a:alpha val="46667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55509" cy="634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417011" y="2713356"/>
            <a:ext cx="8741004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Textbook Assista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 providing exact textbook content + images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5930900"/>
            <a:ext cx="6638074" cy="2222500"/>
            <a:chOff x="0" y="0"/>
            <a:chExt cx="1748299" cy="5853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48299" cy="585350"/>
            </a:xfrm>
            <a:custGeom>
              <a:avLst/>
              <a:gdLst/>
              <a:ahLst/>
              <a:cxnLst/>
              <a:rect r="r" b="b" t="t" l="l"/>
              <a:pathLst>
                <a:path h="585350" w="1748299">
                  <a:moveTo>
                    <a:pt x="19827" y="0"/>
                  </a:moveTo>
                  <a:lnTo>
                    <a:pt x="1728472" y="0"/>
                  </a:lnTo>
                  <a:cubicBezTo>
                    <a:pt x="1739423" y="0"/>
                    <a:pt x="1748299" y="8877"/>
                    <a:pt x="1748299" y="19827"/>
                  </a:cubicBezTo>
                  <a:lnTo>
                    <a:pt x="1748299" y="565523"/>
                  </a:lnTo>
                  <a:cubicBezTo>
                    <a:pt x="1748299" y="570781"/>
                    <a:pt x="1746210" y="575824"/>
                    <a:pt x="1742492" y="579543"/>
                  </a:cubicBezTo>
                  <a:cubicBezTo>
                    <a:pt x="1738774" y="583261"/>
                    <a:pt x="1733731" y="585350"/>
                    <a:pt x="1728472" y="585350"/>
                  </a:cubicBezTo>
                  <a:lnTo>
                    <a:pt x="19827" y="585350"/>
                  </a:lnTo>
                  <a:cubicBezTo>
                    <a:pt x="14569" y="585350"/>
                    <a:pt x="9525" y="583261"/>
                    <a:pt x="5807" y="579543"/>
                  </a:cubicBezTo>
                  <a:cubicBezTo>
                    <a:pt x="2089" y="575824"/>
                    <a:pt x="0" y="570781"/>
                    <a:pt x="0" y="565523"/>
                  </a:cubicBezTo>
                  <a:lnTo>
                    <a:pt x="0" y="19827"/>
                  </a:lnTo>
                  <a:cubicBezTo>
                    <a:pt x="0" y="14569"/>
                    <a:pt x="2089" y="9525"/>
                    <a:pt x="5807" y="5807"/>
                  </a:cubicBezTo>
                  <a:cubicBezTo>
                    <a:pt x="9525" y="2089"/>
                    <a:pt x="14569" y="0"/>
                    <a:pt x="19827" y="0"/>
                  </a:cubicBezTo>
                  <a:close/>
                </a:path>
              </a:pathLst>
            </a:custGeom>
            <a:solidFill>
              <a:srgbClr val="38B6FF">
                <a:alpha val="46667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48299" cy="623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73139" y="6517005"/>
            <a:ext cx="5949196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rsonalization: AI remembers </a:t>
            </a:r>
          </a:p>
          <a:p>
            <a:pPr algn="ctr">
              <a:lnSpc>
                <a:spcPts val="416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style and adapts answers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417011" y="4890383"/>
            <a:ext cx="9025674" cy="1645672"/>
            <a:chOff x="0" y="0"/>
            <a:chExt cx="2377132" cy="433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77132" cy="433428"/>
            </a:xfrm>
            <a:custGeom>
              <a:avLst/>
              <a:gdLst/>
              <a:ahLst/>
              <a:cxnLst/>
              <a:rect r="r" b="b" t="t" l="l"/>
              <a:pathLst>
                <a:path h="433428" w="2377132">
                  <a:moveTo>
                    <a:pt x="14582" y="0"/>
                  </a:moveTo>
                  <a:lnTo>
                    <a:pt x="2362550" y="0"/>
                  </a:lnTo>
                  <a:cubicBezTo>
                    <a:pt x="2370604" y="0"/>
                    <a:pt x="2377132" y="6529"/>
                    <a:pt x="2377132" y="14582"/>
                  </a:cubicBezTo>
                  <a:lnTo>
                    <a:pt x="2377132" y="418846"/>
                  </a:lnTo>
                  <a:cubicBezTo>
                    <a:pt x="2377132" y="426900"/>
                    <a:pt x="2370604" y="433428"/>
                    <a:pt x="2362550" y="433428"/>
                  </a:cubicBezTo>
                  <a:lnTo>
                    <a:pt x="14582" y="433428"/>
                  </a:lnTo>
                  <a:cubicBezTo>
                    <a:pt x="6529" y="433428"/>
                    <a:pt x="0" y="426900"/>
                    <a:pt x="0" y="418846"/>
                  </a:cubicBezTo>
                  <a:lnTo>
                    <a:pt x="0" y="14582"/>
                  </a:lnTo>
                  <a:cubicBezTo>
                    <a:pt x="0" y="6529"/>
                    <a:pt x="6529" y="0"/>
                    <a:pt x="14582" y="0"/>
                  </a:cubicBezTo>
                  <a:close/>
                </a:path>
              </a:pathLst>
            </a:custGeom>
            <a:solidFill>
              <a:srgbClr val="FFDE59">
                <a:alpha val="46667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377132" cy="471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24788" y="5385753"/>
            <a:ext cx="820989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sts questions from JEE/NEET database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417011" y="7078980"/>
            <a:ext cx="9025674" cy="1645672"/>
            <a:chOff x="0" y="0"/>
            <a:chExt cx="2377132" cy="4334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77132" cy="433428"/>
            </a:xfrm>
            <a:custGeom>
              <a:avLst/>
              <a:gdLst/>
              <a:ahLst/>
              <a:cxnLst/>
              <a:rect r="r" b="b" t="t" l="l"/>
              <a:pathLst>
                <a:path h="433428" w="2377132">
                  <a:moveTo>
                    <a:pt x="14582" y="0"/>
                  </a:moveTo>
                  <a:lnTo>
                    <a:pt x="2362550" y="0"/>
                  </a:lnTo>
                  <a:cubicBezTo>
                    <a:pt x="2370604" y="0"/>
                    <a:pt x="2377132" y="6529"/>
                    <a:pt x="2377132" y="14582"/>
                  </a:cubicBezTo>
                  <a:lnTo>
                    <a:pt x="2377132" y="418846"/>
                  </a:lnTo>
                  <a:cubicBezTo>
                    <a:pt x="2377132" y="426900"/>
                    <a:pt x="2370604" y="433428"/>
                    <a:pt x="2362550" y="433428"/>
                  </a:cubicBezTo>
                  <a:lnTo>
                    <a:pt x="14582" y="433428"/>
                  </a:lnTo>
                  <a:cubicBezTo>
                    <a:pt x="6529" y="433428"/>
                    <a:pt x="0" y="426900"/>
                    <a:pt x="0" y="418846"/>
                  </a:cubicBezTo>
                  <a:lnTo>
                    <a:pt x="0" y="14582"/>
                  </a:lnTo>
                  <a:cubicBezTo>
                    <a:pt x="0" y="6529"/>
                    <a:pt x="6529" y="0"/>
                    <a:pt x="14582" y="0"/>
                  </a:cubicBezTo>
                  <a:close/>
                </a:path>
              </a:pathLst>
            </a:custGeom>
            <a:solidFill>
              <a:srgbClr val="7ED957">
                <a:alpha val="46667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377132" cy="471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724788" y="7356669"/>
            <a:ext cx="8209898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 for step-by-step auditory explanations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78176" y="386271"/>
            <a:ext cx="13043904" cy="103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8"/>
              </a:lnSpc>
            </a:pPr>
            <a:r>
              <a:rPr lang="en-US" sz="580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Overview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230" y="2025763"/>
            <a:ext cx="2975446" cy="1493047"/>
            <a:chOff x="0" y="0"/>
            <a:chExt cx="809901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9901" cy="406400"/>
            </a:xfrm>
            <a:custGeom>
              <a:avLst/>
              <a:gdLst/>
              <a:ahLst/>
              <a:cxnLst/>
              <a:rect r="r" b="b" t="t" l="l"/>
              <a:pathLst>
                <a:path h="406400" w="809901">
                  <a:moveTo>
                    <a:pt x="606701" y="0"/>
                  </a:moveTo>
                  <a:cubicBezTo>
                    <a:pt x="718926" y="0"/>
                    <a:pt x="809901" y="90976"/>
                    <a:pt x="809901" y="203200"/>
                  </a:cubicBezTo>
                  <a:cubicBezTo>
                    <a:pt x="809901" y="315424"/>
                    <a:pt x="718926" y="406400"/>
                    <a:pt x="60670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0990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48275" y="2025763"/>
            <a:ext cx="2918950" cy="1493047"/>
            <a:chOff x="0" y="0"/>
            <a:chExt cx="794524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4524" cy="406400"/>
            </a:xfrm>
            <a:custGeom>
              <a:avLst/>
              <a:gdLst/>
              <a:ahLst/>
              <a:cxnLst/>
              <a:rect r="r" b="b" t="t" l="l"/>
              <a:pathLst>
                <a:path h="406400" w="794524">
                  <a:moveTo>
                    <a:pt x="591324" y="0"/>
                  </a:moveTo>
                  <a:cubicBezTo>
                    <a:pt x="703548" y="0"/>
                    <a:pt x="794524" y="90976"/>
                    <a:pt x="794524" y="203200"/>
                  </a:cubicBezTo>
                  <a:cubicBezTo>
                    <a:pt x="794524" y="315424"/>
                    <a:pt x="703548" y="406400"/>
                    <a:pt x="59132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9452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91051" y="2025763"/>
            <a:ext cx="3379325" cy="1493047"/>
            <a:chOff x="0" y="0"/>
            <a:chExt cx="919835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9835" cy="406400"/>
            </a:xfrm>
            <a:custGeom>
              <a:avLst/>
              <a:gdLst/>
              <a:ahLst/>
              <a:cxnLst/>
              <a:rect r="r" b="b" t="t" l="l"/>
              <a:pathLst>
                <a:path h="406400" w="919835">
                  <a:moveTo>
                    <a:pt x="716635" y="0"/>
                  </a:moveTo>
                  <a:cubicBezTo>
                    <a:pt x="828860" y="0"/>
                    <a:pt x="919835" y="90976"/>
                    <a:pt x="919835" y="203200"/>
                  </a:cubicBezTo>
                  <a:cubicBezTo>
                    <a:pt x="919835" y="315424"/>
                    <a:pt x="828860" y="406400"/>
                    <a:pt x="7166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1983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08476" y="2025763"/>
            <a:ext cx="2417300" cy="1493047"/>
            <a:chOff x="0" y="0"/>
            <a:chExt cx="657977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7977" cy="406400"/>
            </a:xfrm>
            <a:custGeom>
              <a:avLst/>
              <a:gdLst/>
              <a:ahLst/>
              <a:cxnLst/>
              <a:rect r="r" b="b" t="t" l="l"/>
              <a:pathLst>
                <a:path h="406400" w="657977">
                  <a:moveTo>
                    <a:pt x="454777" y="0"/>
                  </a:moveTo>
                  <a:cubicBezTo>
                    <a:pt x="567001" y="0"/>
                    <a:pt x="657977" y="90976"/>
                    <a:pt x="657977" y="203200"/>
                  </a:cubicBezTo>
                  <a:cubicBezTo>
                    <a:pt x="657977" y="315424"/>
                    <a:pt x="567001" y="406400"/>
                    <a:pt x="45477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5797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06752" y="2025763"/>
            <a:ext cx="2906250" cy="1493047"/>
            <a:chOff x="0" y="0"/>
            <a:chExt cx="791067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1067" cy="406400"/>
            </a:xfrm>
            <a:custGeom>
              <a:avLst/>
              <a:gdLst/>
              <a:ahLst/>
              <a:cxnLst/>
              <a:rect r="r" b="b" t="t" l="l"/>
              <a:pathLst>
                <a:path h="406400" w="791067">
                  <a:moveTo>
                    <a:pt x="587867" y="0"/>
                  </a:moveTo>
                  <a:cubicBezTo>
                    <a:pt x="700091" y="0"/>
                    <a:pt x="791067" y="90976"/>
                    <a:pt x="791067" y="203200"/>
                  </a:cubicBezTo>
                  <a:cubicBezTo>
                    <a:pt x="791067" y="315424"/>
                    <a:pt x="700091" y="406400"/>
                    <a:pt x="5878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9106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91435" y="2421449"/>
            <a:ext cx="2383036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 input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31909" y="2495549"/>
            <a:ext cx="2284095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94623" y="2495549"/>
            <a:ext cx="3172182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98976" y="2495549"/>
            <a:ext cx="2062043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Mistral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80679" y="2495549"/>
            <a:ext cx="2641402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tep Renderer 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5251102" y="2099863"/>
            <a:ext cx="2954438" cy="1493047"/>
            <a:chOff x="0" y="0"/>
            <a:chExt cx="804183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4183" cy="406400"/>
            </a:xfrm>
            <a:custGeom>
              <a:avLst/>
              <a:gdLst/>
              <a:ahLst/>
              <a:cxnLst/>
              <a:rect r="r" b="b" t="t" l="l"/>
              <a:pathLst>
                <a:path h="406400" w="804183">
                  <a:moveTo>
                    <a:pt x="600983" y="0"/>
                  </a:moveTo>
                  <a:cubicBezTo>
                    <a:pt x="713207" y="0"/>
                    <a:pt x="804183" y="90976"/>
                    <a:pt x="804183" y="203200"/>
                  </a:cubicBezTo>
                  <a:cubicBezTo>
                    <a:pt x="804183" y="315424"/>
                    <a:pt x="713207" y="406400"/>
                    <a:pt x="60098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31000"/>
                  </a:srgbClr>
                </a:gs>
                <a:gs pos="100000">
                  <a:srgbClr val="FF66C4">
                    <a:alpha val="31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0418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336827" y="2283735"/>
            <a:ext cx="3013995" cy="123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Supermemory (Convex)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28700" y="4073964"/>
            <a:ext cx="6952014" cy="5744417"/>
            <a:chOff x="0" y="0"/>
            <a:chExt cx="1830983" cy="15129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30983" cy="1512933"/>
            </a:xfrm>
            <a:custGeom>
              <a:avLst/>
              <a:gdLst/>
              <a:ahLst/>
              <a:cxnLst/>
              <a:rect r="r" b="b" t="t" l="l"/>
              <a:pathLst>
                <a:path h="1512933" w="1830983">
                  <a:moveTo>
                    <a:pt x="18932" y="0"/>
                  </a:moveTo>
                  <a:lnTo>
                    <a:pt x="1812051" y="0"/>
                  </a:lnTo>
                  <a:cubicBezTo>
                    <a:pt x="1822507" y="0"/>
                    <a:pt x="1830983" y="8476"/>
                    <a:pt x="1830983" y="18932"/>
                  </a:cubicBezTo>
                  <a:lnTo>
                    <a:pt x="1830983" y="1494001"/>
                  </a:lnTo>
                  <a:cubicBezTo>
                    <a:pt x="1830983" y="1504457"/>
                    <a:pt x="1822507" y="1512933"/>
                    <a:pt x="1812051" y="1512933"/>
                  </a:cubicBezTo>
                  <a:lnTo>
                    <a:pt x="18932" y="1512933"/>
                  </a:lnTo>
                  <a:cubicBezTo>
                    <a:pt x="8476" y="1512933"/>
                    <a:pt x="0" y="1504457"/>
                    <a:pt x="0" y="1494001"/>
                  </a:cubicBezTo>
                  <a:lnTo>
                    <a:pt x="0" y="18932"/>
                  </a:lnTo>
                  <a:cubicBezTo>
                    <a:pt x="0" y="8476"/>
                    <a:pt x="8476" y="0"/>
                    <a:pt x="18932" y="0"/>
                  </a:cubicBezTo>
                  <a:close/>
                </a:path>
              </a:pathLst>
            </a:custGeom>
            <a:solidFill>
              <a:srgbClr val="5E17EB">
                <a:alpha val="46667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830983" cy="1551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582953" y="4138436"/>
            <a:ext cx="2196941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Layer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9832" y="4752027"/>
            <a:ext cx="7209750" cy="429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242" indent="-373621" lvl="1">
              <a:lnSpc>
                <a:spcPts val="4845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Handwritten ph</a:t>
            </a:r>
            <a:r>
              <a:rPr lang="en-US" sz="34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oto via phone camera</a:t>
            </a:r>
          </a:p>
          <a:p>
            <a:pPr algn="l" marL="747242" indent="-373621" lvl="1">
              <a:lnSpc>
                <a:spcPts val="4845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Typed LaTeX or plain text input</a:t>
            </a:r>
          </a:p>
          <a:p>
            <a:pPr algn="l" marL="747242" indent="-373621" lvl="1">
              <a:lnSpc>
                <a:spcPts val="4845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 converts all formats into consistent markdown</a:t>
            </a:r>
          </a:p>
          <a:p>
            <a:pPr algn="l" marL="747242" indent="-373621" lvl="1">
              <a:lnSpc>
                <a:spcPts val="4845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Eliminates hallucination from bad formatting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898976" y="3972324"/>
            <a:ext cx="7145035" cy="5846058"/>
            <a:chOff x="0" y="0"/>
            <a:chExt cx="1881820" cy="153970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81820" cy="1539702"/>
            </a:xfrm>
            <a:custGeom>
              <a:avLst/>
              <a:gdLst/>
              <a:ahLst/>
              <a:cxnLst/>
              <a:rect r="r" b="b" t="t" l="l"/>
              <a:pathLst>
                <a:path h="1539702" w="1881820">
                  <a:moveTo>
                    <a:pt x="18420" y="0"/>
                  </a:moveTo>
                  <a:lnTo>
                    <a:pt x="1863400" y="0"/>
                  </a:lnTo>
                  <a:cubicBezTo>
                    <a:pt x="1868285" y="0"/>
                    <a:pt x="1872970" y="1941"/>
                    <a:pt x="1876425" y="5395"/>
                  </a:cubicBezTo>
                  <a:cubicBezTo>
                    <a:pt x="1879879" y="8850"/>
                    <a:pt x="1881820" y="13535"/>
                    <a:pt x="1881820" y="18420"/>
                  </a:cubicBezTo>
                  <a:lnTo>
                    <a:pt x="1881820" y="1521282"/>
                  </a:lnTo>
                  <a:cubicBezTo>
                    <a:pt x="1881820" y="1531455"/>
                    <a:pt x="1873573" y="1539702"/>
                    <a:pt x="1863400" y="1539702"/>
                  </a:cubicBezTo>
                  <a:lnTo>
                    <a:pt x="18420" y="1539702"/>
                  </a:lnTo>
                  <a:cubicBezTo>
                    <a:pt x="8247" y="1539702"/>
                    <a:pt x="0" y="1531455"/>
                    <a:pt x="0" y="1521282"/>
                  </a:cubicBezTo>
                  <a:lnTo>
                    <a:pt x="0" y="18420"/>
                  </a:lnTo>
                  <a:cubicBezTo>
                    <a:pt x="0" y="8247"/>
                    <a:pt x="8247" y="0"/>
                    <a:pt x="18420" y="0"/>
                  </a:cubicBezTo>
                  <a:close/>
                </a:path>
              </a:pathLst>
            </a:custGeom>
            <a:solidFill>
              <a:srgbClr val="5E17EB">
                <a:alpha val="46667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881820" cy="157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068065" y="4042686"/>
            <a:ext cx="324528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 Layer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08476" y="4659137"/>
            <a:ext cx="7209750" cy="490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242" indent="-373621" lvl="1">
              <a:lnSpc>
                <a:spcPts val="4845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Dedicated Mistral agents f</a:t>
            </a:r>
            <a:r>
              <a:rPr lang="en-US" sz="34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Physics, Chemistry, Maths, Biology</a:t>
            </a:r>
          </a:p>
          <a:p>
            <a:pPr algn="l" marL="747242" indent="-373621" lvl="1">
              <a:lnSpc>
                <a:spcPts val="4845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Aryabhatta mode — fine-tuned for JEE/NEET</a:t>
            </a:r>
          </a:p>
          <a:p>
            <a:pPr algn="l" marL="747242" indent="-373621" lvl="1">
              <a:lnSpc>
                <a:spcPts val="4845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ColPali — searches text &amp; images in textbooks</a:t>
            </a:r>
          </a:p>
          <a:p>
            <a:pPr algn="l" marL="747242" indent="-373621" lvl="1">
              <a:lnSpc>
                <a:spcPts val="4845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Manim-Py generates animated explanations (30–40 sec)</a:t>
            </a:r>
          </a:p>
        </p:txBody>
      </p:sp>
      <p:sp>
        <p:nvSpPr>
          <p:cNvPr name="AutoShape 39" id="39"/>
          <p:cNvSpPr/>
          <p:nvPr/>
        </p:nvSpPr>
        <p:spPr>
          <a:xfrm>
            <a:off x="2957763" y="2791337"/>
            <a:ext cx="3931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6001452" y="2865437"/>
            <a:ext cx="3931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9632276" y="2884487"/>
            <a:ext cx="76200" cy="254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12024264" y="2884487"/>
            <a:ext cx="3931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 flipV="true">
            <a:off x="15122081" y="2865437"/>
            <a:ext cx="266171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579" y="2702809"/>
            <a:ext cx="6757585" cy="4137342"/>
            <a:chOff x="0" y="0"/>
            <a:chExt cx="1779775" cy="1089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9775" cy="1089670"/>
            </a:xfrm>
            <a:custGeom>
              <a:avLst/>
              <a:gdLst/>
              <a:ahLst/>
              <a:cxnLst/>
              <a:rect r="r" b="b" t="t" l="l"/>
              <a:pathLst>
                <a:path h="1089670" w="1779775">
                  <a:moveTo>
                    <a:pt x="0" y="0"/>
                  </a:moveTo>
                  <a:lnTo>
                    <a:pt x="1779775" y="0"/>
                  </a:lnTo>
                  <a:lnTo>
                    <a:pt x="1779775" y="1089670"/>
                  </a:lnTo>
                  <a:lnTo>
                    <a:pt x="0" y="1089670"/>
                  </a:lnTo>
                  <a:close/>
                </a:path>
              </a:pathLst>
            </a:custGeom>
            <a:solidFill>
              <a:srgbClr val="0B0A0A">
                <a:alpha val="7372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9775" cy="1127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1490" y="1810464"/>
            <a:ext cx="4473309" cy="1247945"/>
            <a:chOff x="0" y="0"/>
            <a:chExt cx="1240942" cy="346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0942" cy="346193"/>
            </a:xfrm>
            <a:custGeom>
              <a:avLst/>
              <a:gdLst/>
              <a:ahLst/>
              <a:cxnLst/>
              <a:rect r="r" b="b" t="t" l="l"/>
              <a:pathLst>
                <a:path h="346193" w="1240942">
                  <a:moveTo>
                    <a:pt x="1037742" y="0"/>
                  </a:moveTo>
                  <a:cubicBezTo>
                    <a:pt x="1149966" y="0"/>
                    <a:pt x="1240942" y="77498"/>
                    <a:pt x="1240942" y="173096"/>
                  </a:cubicBezTo>
                  <a:cubicBezTo>
                    <a:pt x="1240942" y="268695"/>
                    <a:pt x="1149966" y="346193"/>
                    <a:pt x="1037742" y="346193"/>
                  </a:cubicBezTo>
                  <a:lnTo>
                    <a:pt x="203200" y="346193"/>
                  </a:lnTo>
                  <a:cubicBezTo>
                    <a:pt x="90976" y="346193"/>
                    <a:pt x="0" y="268695"/>
                    <a:pt x="0" y="173096"/>
                  </a:cubicBezTo>
                  <a:cubicBezTo>
                    <a:pt x="0" y="7749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0942" cy="384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53917" y="3358705"/>
            <a:ext cx="6332909" cy="2944113"/>
          </a:xfrm>
          <a:custGeom>
            <a:avLst/>
            <a:gdLst/>
            <a:ahLst/>
            <a:cxnLst/>
            <a:rect r="r" b="b" t="t" l="l"/>
            <a:pathLst>
              <a:path h="2944113" w="6332909">
                <a:moveTo>
                  <a:pt x="0" y="0"/>
                </a:moveTo>
                <a:lnTo>
                  <a:pt x="6332909" y="0"/>
                </a:lnTo>
                <a:lnTo>
                  <a:pt x="6332909" y="2944113"/>
                </a:lnTo>
                <a:lnTo>
                  <a:pt x="0" y="2944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067954" y="1103767"/>
            <a:ext cx="7748185" cy="2816542"/>
            <a:chOff x="0" y="0"/>
            <a:chExt cx="2040674" cy="7418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0674" cy="741805"/>
            </a:xfrm>
            <a:custGeom>
              <a:avLst/>
              <a:gdLst/>
              <a:ahLst/>
              <a:cxnLst/>
              <a:rect r="r" b="b" t="t" l="l"/>
              <a:pathLst>
                <a:path h="741805" w="2040674">
                  <a:moveTo>
                    <a:pt x="0" y="0"/>
                  </a:moveTo>
                  <a:lnTo>
                    <a:pt x="2040674" y="0"/>
                  </a:lnTo>
                  <a:lnTo>
                    <a:pt x="2040674" y="741805"/>
                  </a:lnTo>
                  <a:lnTo>
                    <a:pt x="0" y="741805"/>
                  </a:lnTo>
                  <a:close/>
                </a:path>
              </a:pathLst>
            </a:custGeom>
            <a:solidFill>
              <a:srgbClr val="0B0A0A">
                <a:alpha val="73725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40674" cy="779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38477" y="374649"/>
            <a:ext cx="4688943" cy="1308101"/>
            <a:chOff x="0" y="0"/>
            <a:chExt cx="1240942" cy="3461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0942" cy="346193"/>
            </a:xfrm>
            <a:custGeom>
              <a:avLst/>
              <a:gdLst/>
              <a:ahLst/>
              <a:cxnLst/>
              <a:rect r="r" b="b" t="t" l="l"/>
              <a:pathLst>
                <a:path h="346193" w="1240942">
                  <a:moveTo>
                    <a:pt x="1037742" y="0"/>
                  </a:moveTo>
                  <a:cubicBezTo>
                    <a:pt x="1149966" y="0"/>
                    <a:pt x="1240942" y="77498"/>
                    <a:pt x="1240942" y="173096"/>
                  </a:cubicBezTo>
                  <a:cubicBezTo>
                    <a:pt x="1240942" y="268695"/>
                    <a:pt x="1149966" y="346193"/>
                    <a:pt x="1037742" y="346193"/>
                  </a:cubicBezTo>
                  <a:lnTo>
                    <a:pt x="203200" y="346193"/>
                  </a:lnTo>
                  <a:cubicBezTo>
                    <a:pt x="90976" y="346193"/>
                    <a:pt x="0" y="268695"/>
                    <a:pt x="0" y="173096"/>
                  </a:cubicBezTo>
                  <a:cubicBezTo>
                    <a:pt x="0" y="7749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40942" cy="384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665848" y="1928414"/>
            <a:ext cx="6593452" cy="1430292"/>
          </a:xfrm>
          <a:custGeom>
            <a:avLst/>
            <a:gdLst/>
            <a:ahLst/>
            <a:cxnLst/>
            <a:rect r="r" b="b" t="t" l="l"/>
            <a:pathLst>
              <a:path h="1430292" w="6593452">
                <a:moveTo>
                  <a:pt x="0" y="0"/>
                </a:moveTo>
                <a:lnTo>
                  <a:pt x="6593452" y="0"/>
                </a:lnTo>
                <a:lnTo>
                  <a:pt x="6593452" y="1430291"/>
                </a:lnTo>
                <a:lnTo>
                  <a:pt x="0" y="1430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178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874273" y="4830762"/>
            <a:ext cx="6757585" cy="2867342"/>
            <a:chOff x="0" y="0"/>
            <a:chExt cx="1779775" cy="7551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79775" cy="755185"/>
            </a:xfrm>
            <a:custGeom>
              <a:avLst/>
              <a:gdLst/>
              <a:ahLst/>
              <a:cxnLst/>
              <a:rect r="r" b="b" t="t" l="l"/>
              <a:pathLst>
                <a:path h="755185" w="1779775">
                  <a:moveTo>
                    <a:pt x="0" y="0"/>
                  </a:moveTo>
                  <a:lnTo>
                    <a:pt x="1779775" y="0"/>
                  </a:lnTo>
                  <a:lnTo>
                    <a:pt x="1779775" y="755185"/>
                  </a:lnTo>
                  <a:lnTo>
                    <a:pt x="0" y="755185"/>
                  </a:lnTo>
                  <a:close/>
                </a:path>
              </a:pathLst>
            </a:custGeom>
            <a:solidFill>
              <a:srgbClr val="0B0A0A">
                <a:alpha val="73725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79775" cy="793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778061" y="4150301"/>
            <a:ext cx="2950009" cy="1242358"/>
            <a:chOff x="0" y="0"/>
            <a:chExt cx="822042" cy="3461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042" cy="346193"/>
            </a:xfrm>
            <a:custGeom>
              <a:avLst/>
              <a:gdLst/>
              <a:ahLst/>
              <a:cxnLst/>
              <a:rect r="r" b="b" t="t" l="l"/>
              <a:pathLst>
                <a:path h="346193" w="822042">
                  <a:moveTo>
                    <a:pt x="618842" y="0"/>
                  </a:moveTo>
                  <a:cubicBezTo>
                    <a:pt x="731067" y="0"/>
                    <a:pt x="822042" y="77498"/>
                    <a:pt x="822042" y="173096"/>
                  </a:cubicBezTo>
                  <a:cubicBezTo>
                    <a:pt x="822042" y="268695"/>
                    <a:pt x="731067" y="346193"/>
                    <a:pt x="618842" y="346193"/>
                  </a:cubicBezTo>
                  <a:lnTo>
                    <a:pt x="203200" y="346193"/>
                  </a:lnTo>
                  <a:cubicBezTo>
                    <a:pt x="90976" y="346193"/>
                    <a:pt x="0" y="268695"/>
                    <a:pt x="0" y="173096"/>
                  </a:cubicBezTo>
                  <a:cubicBezTo>
                    <a:pt x="0" y="7749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22042" cy="384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1246831" y="5621259"/>
            <a:ext cx="6012469" cy="1484560"/>
          </a:xfrm>
          <a:custGeom>
            <a:avLst/>
            <a:gdLst/>
            <a:ahLst/>
            <a:cxnLst/>
            <a:rect r="r" b="b" t="t" l="l"/>
            <a:pathLst>
              <a:path h="1484560" w="6012469">
                <a:moveTo>
                  <a:pt x="0" y="0"/>
                </a:moveTo>
                <a:lnTo>
                  <a:pt x="6012469" y="0"/>
                </a:lnTo>
                <a:lnTo>
                  <a:pt x="6012469" y="1484560"/>
                </a:lnTo>
                <a:lnTo>
                  <a:pt x="0" y="1484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12979" y="7698103"/>
            <a:ext cx="8831021" cy="2210116"/>
            <a:chOff x="0" y="0"/>
            <a:chExt cx="2325866" cy="5820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25866" cy="582088"/>
            </a:xfrm>
            <a:custGeom>
              <a:avLst/>
              <a:gdLst/>
              <a:ahLst/>
              <a:cxnLst/>
              <a:rect r="r" b="b" t="t" l="l"/>
              <a:pathLst>
                <a:path h="582088" w="2325866">
                  <a:moveTo>
                    <a:pt x="0" y="0"/>
                  </a:moveTo>
                  <a:lnTo>
                    <a:pt x="2325866" y="0"/>
                  </a:lnTo>
                  <a:lnTo>
                    <a:pt x="2325866" y="582088"/>
                  </a:lnTo>
                  <a:lnTo>
                    <a:pt x="0" y="582088"/>
                  </a:lnTo>
                  <a:close/>
                </a:path>
              </a:pathLst>
            </a:custGeom>
            <a:solidFill>
              <a:srgbClr val="0B0A0A">
                <a:alpha val="73725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325866" cy="620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954799" y="7076924"/>
            <a:ext cx="2950009" cy="1242358"/>
            <a:chOff x="0" y="0"/>
            <a:chExt cx="822042" cy="34619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042" cy="346193"/>
            </a:xfrm>
            <a:custGeom>
              <a:avLst/>
              <a:gdLst/>
              <a:ahLst/>
              <a:cxnLst/>
              <a:rect r="r" b="b" t="t" l="l"/>
              <a:pathLst>
                <a:path h="346193" w="822042">
                  <a:moveTo>
                    <a:pt x="618842" y="0"/>
                  </a:moveTo>
                  <a:cubicBezTo>
                    <a:pt x="731067" y="0"/>
                    <a:pt x="822042" y="77498"/>
                    <a:pt x="822042" y="173096"/>
                  </a:cubicBezTo>
                  <a:cubicBezTo>
                    <a:pt x="822042" y="268695"/>
                    <a:pt x="731067" y="346193"/>
                    <a:pt x="618842" y="346193"/>
                  </a:cubicBezTo>
                  <a:lnTo>
                    <a:pt x="203200" y="346193"/>
                  </a:lnTo>
                  <a:cubicBezTo>
                    <a:pt x="90976" y="346193"/>
                    <a:pt x="0" y="268695"/>
                    <a:pt x="0" y="173096"/>
                  </a:cubicBezTo>
                  <a:cubicBezTo>
                    <a:pt x="0" y="7749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042" cy="384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753092" y="8557407"/>
            <a:ext cx="7950795" cy="1104277"/>
          </a:xfrm>
          <a:custGeom>
            <a:avLst/>
            <a:gdLst/>
            <a:ahLst/>
            <a:cxnLst/>
            <a:rect r="r" b="b" t="t" l="l"/>
            <a:pathLst>
              <a:path h="1104277" w="7950795">
                <a:moveTo>
                  <a:pt x="0" y="0"/>
                </a:moveTo>
                <a:lnTo>
                  <a:pt x="7950795" y="0"/>
                </a:lnTo>
                <a:lnTo>
                  <a:pt x="7950795" y="1104277"/>
                </a:lnTo>
                <a:lnTo>
                  <a:pt x="0" y="11042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28700" y="435687"/>
            <a:ext cx="9219000" cy="103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6"/>
              </a:lnSpc>
            </a:pPr>
            <a:r>
              <a:rPr lang="en-US" sz="58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Stack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39790" y="2004308"/>
            <a:ext cx="4156710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&amp; Framework’s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73265" y="279399"/>
            <a:ext cx="3409593" cy="1403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Animations &amp;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Video Libraries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51274" y="4374604"/>
            <a:ext cx="2003584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46272" y="7301228"/>
            <a:ext cx="2031802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85848" y="425211"/>
            <a:ext cx="9219000" cy="10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6"/>
              </a:lnSpc>
            </a:pPr>
            <a:r>
              <a:rPr lang="en-US" sz="61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77215" y="2878565"/>
            <a:ext cx="8363585" cy="6537563"/>
            <a:chOff x="0" y="0"/>
            <a:chExt cx="2202755" cy="1721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2755" cy="1721827"/>
            </a:xfrm>
            <a:custGeom>
              <a:avLst/>
              <a:gdLst/>
              <a:ahLst/>
              <a:cxnLst/>
              <a:rect r="r" b="b" t="t" l="l"/>
              <a:pathLst>
                <a:path h="1721827" w="2202755">
                  <a:moveTo>
                    <a:pt x="0" y="0"/>
                  </a:moveTo>
                  <a:lnTo>
                    <a:pt x="2202755" y="0"/>
                  </a:lnTo>
                  <a:lnTo>
                    <a:pt x="2202755" y="1721827"/>
                  </a:lnTo>
                  <a:lnTo>
                    <a:pt x="0" y="1721827"/>
                  </a:lnTo>
                  <a:close/>
                </a:path>
              </a:pathLst>
            </a:custGeom>
            <a:solidFill>
              <a:srgbClr val="8E978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2755" cy="1759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4461" y="2099558"/>
            <a:ext cx="5058209" cy="1242358"/>
            <a:chOff x="0" y="0"/>
            <a:chExt cx="1409508" cy="3461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9508" cy="346193"/>
            </a:xfrm>
            <a:custGeom>
              <a:avLst/>
              <a:gdLst/>
              <a:ahLst/>
              <a:cxnLst/>
              <a:rect r="r" b="b" t="t" l="l"/>
              <a:pathLst>
                <a:path h="346193" w="1409508">
                  <a:moveTo>
                    <a:pt x="1206308" y="0"/>
                  </a:moveTo>
                  <a:cubicBezTo>
                    <a:pt x="1318533" y="0"/>
                    <a:pt x="1409508" y="77498"/>
                    <a:pt x="1409508" y="173096"/>
                  </a:cubicBezTo>
                  <a:cubicBezTo>
                    <a:pt x="1409508" y="268695"/>
                    <a:pt x="1318533" y="346193"/>
                    <a:pt x="1206308" y="346193"/>
                  </a:cubicBezTo>
                  <a:lnTo>
                    <a:pt x="203200" y="346193"/>
                  </a:lnTo>
                  <a:cubicBezTo>
                    <a:pt x="90976" y="346193"/>
                    <a:pt x="0" y="268695"/>
                    <a:pt x="0" y="173096"/>
                  </a:cubicBezTo>
                  <a:cubicBezTo>
                    <a:pt x="0" y="7749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09508" cy="384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70415" y="2878565"/>
            <a:ext cx="8185785" cy="6537563"/>
            <a:chOff x="0" y="0"/>
            <a:chExt cx="2155927" cy="17218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5927" cy="1721827"/>
            </a:xfrm>
            <a:custGeom>
              <a:avLst/>
              <a:gdLst/>
              <a:ahLst/>
              <a:cxnLst/>
              <a:rect r="r" b="b" t="t" l="l"/>
              <a:pathLst>
                <a:path h="1721827" w="2155927">
                  <a:moveTo>
                    <a:pt x="0" y="0"/>
                  </a:moveTo>
                  <a:lnTo>
                    <a:pt x="2155927" y="0"/>
                  </a:lnTo>
                  <a:lnTo>
                    <a:pt x="2155927" y="1721827"/>
                  </a:lnTo>
                  <a:lnTo>
                    <a:pt x="0" y="1721827"/>
                  </a:lnTo>
                  <a:close/>
                </a:path>
              </a:pathLst>
            </a:custGeom>
            <a:solidFill>
              <a:srgbClr val="8E978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55927" cy="1759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6261" y="2099558"/>
            <a:ext cx="4582839" cy="1242358"/>
            <a:chOff x="0" y="0"/>
            <a:chExt cx="1277043" cy="3461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7043" cy="346193"/>
            </a:xfrm>
            <a:custGeom>
              <a:avLst/>
              <a:gdLst/>
              <a:ahLst/>
              <a:cxnLst/>
              <a:rect r="r" b="b" t="t" l="l"/>
              <a:pathLst>
                <a:path h="346193" w="1277043">
                  <a:moveTo>
                    <a:pt x="1073843" y="0"/>
                  </a:moveTo>
                  <a:cubicBezTo>
                    <a:pt x="1186067" y="0"/>
                    <a:pt x="1277043" y="77498"/>
                    <a:pt x="1277043" y="173096"/>
                  </a:cubicBezTo>
                  <a:cubicBezTo>
                    <a:pt x="1277043" y="268695"/>
                    <a:pt x="1186067" y="346193"/>
                    <a:pt x="1073843" y="346193"/>
                  </a:cubicBezTo>
                  <a:lnTo>
                    <a:pt x="203200" y="346193"/>
                  </a:lnTo>
                  <a:cubicBezTo>
                    <a:pt x="90976" y="346193"/>
                    <a:pt x="0" y="268695"/>
                    <a:pt x="0" y="173096"/>
                  </a:cubicBezTo>
                  <a:cubicBezTo>
                    <a:pt x="0" y="7749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77043" cy="384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160324" y="2323861"/>
            <a:ext cx="4246483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Measurable Impact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0415" y="3560991"/>
            <a:ext cx="8363585" cy="506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lecture comprehension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onverts video lectures to structured text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c</a:t>
            </a: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oncise summaries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conceptual clarity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online, hybrid, recorded learning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23761" y="2323861"/>
            <a:ext cx="2977039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Social Impact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92615" y="3560991"/>
            <a:ext cx="8363585" cy="506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revision time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Minimizes exam stress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for institutions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accessibility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Boosts productivity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Cost-effective using open-source AI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85848" y="425211"/>
            <a:ext cx="9219000" cy="106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6"/>
              </a:lnSpc>
            </a:pPr>
            <a:r>
              <a:rPr lang="en-US" sz="61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Impact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9831" y="2720737"/>
            <a:ext cx="5932170" cy="3667363"/>
            <a:chOff x="0" y="0"/>
            <a:chExt cx="1562382" cy="965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2382" cy="965890"/>
            </a:xfrm>
            <a:custGeom>
              <a:avLst/>
              <a:gdLst/>
              <a:ahLst/>
              <a:cxnLst/>
              <a:rect r="r" b="b" t="t" l="l"/>
              <a:pathLst>
                <a:path h="965890" w="1562382">
                  <a:moveTo>
                    <a:pt x="0" y="0"/>
                  </a:moveTo>
                  <a:lnTo>
                    <a:pt x="1562382" y="0"/>
                  </a:lnTo>
                  <a:lnTo>
                    <a:pt x="1562382" y="965890"/>
                  </a:lnTo>
                  <a:lnTo>
                    <a:pt x="0" y="965890"/>
                  </a:ln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62382" cy="1003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7215" y="2099558"/>
            <a:ext cx="3864409" cy="1242358"/>
            <a:chOff x="0" y="0"/>
            <a:chExt cx="1076847" cy="3461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6847" cy="346193"/>
            </a:xfrm>
            <a:custGeom>
              <a:avLst/>
              <a:gdLst/>
              <a:ahLst/>
              <a:cxnLst/>
              <a:rect r="r" b="b" t="t" l="l"/>
              <a:pathLst>
                <a:path h="346193" w="1076847">
                  <a:moveTo>
                    <a:pt x="873647" y="0"/>
                  </a:moveTo>
                  <a:cubicBezTo>
                    <a:pt x="985871" y="0"/>
                    <a:pt x="1076847" y="77498"/>
                    <a:pt x="1076847" y="173096"/>
                  </a:cubicBezTo>
                  <a:cubicBezTo>
                    <a:pt x="1076847" y="268695"/>
                    <a:pt x="985871" y="346193"/>
                    <a:pt x="873647" y="346193"/>
                  </a:cubicBezTo>
                  <a:lnTo>
                    <a:pt x="203200" y="346193"/>
                  </a:lnTo>
                  <a:cubicBezTo>
                    <a:pt x="90976" y="346193"/>
                    <a:pt x="0" y="268695"/>
                    <a:pt x="0" y="173096"/>
                  </a:cubicBezTo>
                  <a:cubicBezTo>
                    <a:pt x="0" y="7749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76847" cy="384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95348" y="2720737"/>
            <a:ext cx="5669518" cy="3667363"/>
            <a:chOff x="0" y="0"/>
            <a:chExt cx="1493206" cy="965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3206" cy="965890"/>
            </a:xfrm>
            <a:custGeom>
              <a:avLst/>
              <a:gdLst/>
              <a:ahLst/>
              <a:cxnLst/>
              <a:rect r="r" b="b" t="t" l="l"/>
              <a:pathLst>
                <a:path h="965890" w="1493206">
                  <a:moveTo>
                    <a:pt x="0" y="0"/>
                  </a:moveTo>
                  <a:lnTo>
                    <a:pt x="1493206" y="0"/>
                  </a:lnTo>
                  <a:lnTo>
                    <a:pt x="1493206" y="965890"/>
                  </a:lnTo>
                  <a:lnTo>
                    <a:pt x="0" y="965890"/>
                  </a:ln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93206" cy="1003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02912" y="1923489"/>
            <a:ext cx="4125639" cy="1242358"/>
            <a:chOff x="0" y="0"/>
            <a:chExt cx="1149641" cy="3461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9641" cy="346193"/>
            </a:xfrm>
            <a:custGeom>
              <a:avLst/>
              <a:gdLst/>
              <a:ahLst/>
              <a:cxnLst/>
              <a:rect r="r" b="b" t="t" l="l"/>
              <a:pathLst>
                <a:path h="346193" w="1149641">
                  <a:moveTo>
                    <a:pt x="946441" y="0"/>
                  </a:moveTo>
                  <a:cubicBezTo>
                    <a:pt x="1058665" y="0"/>
                    <a:pt x="1149641" y="77498"/>
                    <a:pt x="1149641" y="173096"/>
                  </a:cubicBezTo>
                  <a:cubicBezTo>
                    <a:pt x="1149641" y="268695"/>
                    <a:pt x="1058665" y="346193"/>
                    <a:pt x="946441" y="346193"/>
                  </a:cubicBezTo>
                  <a:lnTo>
                    <a:pt x="203200" y="346193"/>
                  </a:lnTo>
                  <a:cubicBezTo>
                    <a:pt x="90976" y="346193"/>
                    <a:pt x="0" y="268695"/>
                    <a:pt x="0" y="173096"/>
                  </a:cubicBezTo>
                  <a:cubicBezTo>
                    <a:pt x="0" y="7749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49641" cy="384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21661" y="2323861"/>
            <a:ext cx="3175516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JEE Aspirants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0" y="3237141"/>
            <a:ext cx="6192001" cy="289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how students thi</a:t>
            </a: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nk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passive watching → active reasoning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95348" y="3164526"/>
            <a:ext cx="5669518" cy="289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</a:t>
            </a: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dependence → independence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overload → visual recall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04653" y="1795368"/>
            <a:ext cx="2878693" cy="1403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Board Exam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618482" y="2720737"/>
            <a:ext cx="5466318" cy="3667363"/>
            <a:chOff x="0" y="0"/>
            <a:chExt cx="1439689" cy="9658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39689" cy="965890"/>
            </a:xfrm>
            <a:custGeom>
              <a:avLst/>
              <a:gdLst/>
              <a:ahLst/>
              <a:cxnLst/>
              <a:rect r="r" b="b" t="t" l="l"/>
              <a:pathLst>
                <a:path h="965890" w="1439689">
                  <a:moveTo>
                    <a:pt x="0" y="0"/>
                  </a:moveTo>
                  <a:lnTo>
                    <a:pt x="1439689" y="0"/>
                  </a:lnTo>
                  <a:lnTo>
                    <a:pt x="1439689" y="965890"/>
                  </a:lnTo>
                  <a:lnTo>
                    <a:pt x="0" y="965890"/>
                  </a:ln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39689" cy="1003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530625" y="1890618"/>
            <a:ext cx="3403759" cy="1378683"/>
            <a:chOff x="0" y="0"/>
            <a:chExt cx="948483" cy="3841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8483" cy="384181"/>
            </a:xfrm>
            <a:custGeom>
              <a:avLst/>
              <a:gdLst/>
              <a:ahLst/>
              <a:cxnLst/>
              <a:rect r="r" b="b" t="t" l="l"/>
              <a:pathLst>
                <a:path h="384181" w="948483">
                  <a:moveTo>
                    <a:pt x="745283" y="0"/>
                  </a:moveTo>
                  <a:cubicBezTo>
                    <a:pt x="857508" y="0"/>
                    <a:pt x="948483" y="86002"/>
                    <a:pt x="948483" y="192090"/>
                  </a:cubicBezTo>
                  <a:cubicBezTo>
                    <a:pt x="948483" y="298179"/>
                    <a:pt x="857508" y="384181"/>
                    <a:pt x="745283" y="384181"/>
                  </a:cubicBezTo>
                  <a:lnTo>
                    <a:pt x="203200" y="384181"/>
                  </a:lnTo>
                  <a:cubicBezTo>
                    <a:pt x="90976" y="384181"/>
                    <a:pt x="0" y="298179"/>
                    <a:pt x="0" y="192090"/>
                  </a:cubicBezTo>
                  <a:cubicBezTo>
                    <a:pt x="0" y="8600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48483" cy="42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5044916" y="1795368"/>
            <a:ext cx="2375178" cy="1403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Univresity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64866" y="3164526"/>
            <a:ext cx="5669518" cy="289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80% reduction in confusion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academic performance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28700" y="7321550"/>
            <a:ext cx="16230600" cy="2191483"/>
            <a:chOff x="0" y="0"/>
            <a:chExt cx="4522781" cy="6106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22781" cy="610674"/>
            </a:xfrm>
            <a:custGeom>
              <a:avLst/>
              <a:gdLst/>
              <a:ahLst/>
              <a:cxnLst/>
              <a:rect r="r" b="b" t="t" l="l"/>
              <a:pathLst>
                <a:path h="610674" w="4522781">
                  <a:moveTo>
                    <a:pt x="4319581" y="0"/>
                  </a:moveTo>
                  <a:cubicBezTo>
                    <a:pt x="4431805" y="0"/>
                    <a:pt x="4522781" y="136704"/>
                    <a:pt x="4522781" y="305337"/>
                  </a:cubicBezTo>
                  <a:cubicBezTo>
                    <a:pt x="4522781" y="473970"/>
                    <a:pt x="4431805" y="610674"/>
                    <a:pt x="4319581" y="610674"/>
                  </a:cubicBezTo>
                  <a:lnTo>
                    <a:pt x="203200" y="610674"/>
                  </a:lnTo>
                  <a:cubicBezTo>
                    <a:pt x="90976" y="610674"/>
                    <a:pt x="0" y="473970"/>
                    <a:pt x="0" y="305337"/>
                  </a:cubicBezTo>
                  <a:cubicBezTo>
                    <a:pt x="0" y="13670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ED957">
                <a:alpha val="57647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522781" cy="648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63848" y="7632431"/>
            <a:ext cx="15995452" cy="14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VibeAsk is rev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olutionizing self-learning in India with accessible personalized education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9206" y="-442592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225916" y="271374"/>
            <a:ext cx="15273452" cy="70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sz="400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 vs Existing Chat Bots (Gemini, ChatGPT, Perplexity)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08000" y="1369105"/>
            <a:ext cx="17619923" cy="2841515"/>
            <a:chOff x="0" y="0"/>
            <a:chExt cx="4812975" cy="776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2975" cy="776175"/>
            </a:xfrm>
            <a:custGeom>
              <a:avLst/>
              <a:gdLst/>
              <a:ahLst/>
              <a:cxnLst/>
              <a:rect r="r" b="b" t="t" l="l"/>
              <a:pathLst>
                <a:path h="776175" w="4812975">
                  <a:moveTo>
                    <a:pt x="4609775" y="0"/>
                  </a:moveTo>
                  <a:cubicBezTo>
                    <a:pt x="4721999" y="0"/>
                    <a:pt x="4812975" y="173753"/>
                    <a:pt x="4812975" y="388087"/>
                  </a:cubicBezTo>
                  <a:cubicBezTo>
                    <a:pt x="4812975" y="602422"/>
                    <a:pt x="4721999" y="776175"/>
                    <a:pt x="4609775" y="776175"/>
                  </a:cubicBezTo>
                  <a:lnTo>
                    <a:pt x="203200" y="776175"/>
                  </a:lnTo>
                  <a:cubicBezTo>
                    <a:pt x="90976" y="776175"/>
                    <a:pt x="0" y="602422"/>
                    <a:pt x="0" y="388087"/>
                  </a:cubicBezTo>
                  <a:cubicBezTo>
                    <a:pt x="0" y="17375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ED957">
                <a:alpha val="5764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2975" cy="81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666" y="4297484"/>
            <a:ext cx="5532533" cy="5880100"/>
            <a:chOff x="0" y="0"/>
            <a:chExt cx="1457128" cy="1548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7128" cy="1548668"/>
            </a:xfrm>
            <a:custGeom>
              <a:avLst/>
              <a:gdLst/>
              <a:ahLst/>
              <a:cxnLst/>
              <a:rect r="r" b="b" t="t" l="l"/>
              <a:pathLst>
                <a:path h="1548668" w="1457128">
                  <a:moveTo>
                    <a:pt x="23789" y="0"/>
                  </a:moveTo>
                  <a:lnTo>
                    <a:pt x="1433339" y="0"/>
                  </a:lnTo>
                  <a:cubicBezTo>
                    <a:pt x="1446478" y="0"/>
                    <a:pt x="1457128" y="10651"/>
                    <a:pt x="1457128" y="23789"/>
                  </a:cubicBezTo>
                  <a:lnTo>
                    <a:pt x="1457128" y="1524880"/>
                  </a:lnTo>
                  <a:cubicBezTo>
                    <a:pt x="1457128" y="1538018"/>
                    <a:pt x="1446478" y="1548668"/>
                    <a:pt x="1433339" y="1548668"/>
                  </a:cubicBezTo>
                  <a:lnTo>
                    <a:pt x="23789" y="1548668"/>
                  </a:lnTo>
                  <a:cubicBezTo>
                    <a:pt x="17480" y="1548668"/>
                    <a:pt x="11429" y="1546162"/>
                    <a:pt x="6968" y="1541701"/>
                  </a:cubicBezTo>
                  <a:cubicBezTo>
                    <a:pt x="2506" y="1537240"/>
                    <a:pt x="0" y="1531189"/>
                    <a:pt x="0" y="1524880"/>
                  </a:cubicBezTo>
                  <a:lnTo>
                    <a:pt x="0" y="23789"/>
                  </a:lnTo>
                  <a:cubicBezTo>
                    <a:pt x="0" y="17480"/>
                    <a:pt x="2506" y="11429"/>
                    <a:pt x="6968" y="6968"/>
                  </a:cubicBezTo>
                  <a:cubicBezTo>
                    <a:pt x="11429" y="2506"/>
                    <a:pt x="17480" y="0"/>
                    <a:pt x="23789" y="0"/>
                  </a:cubicBezTo>
                  <a:close/>
                </a:path>
              </a:pathLst>
            </a:custGeom>
            <a:solidFill>
              <a:srgbClr val="FFDE59">
                <a:alpha val="4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57128" cy="1586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69311" y="1408909"/>
            <a:ext cx="16497300" cy="267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0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Core Difference </a:t>
            </a:r>
          </a:p>
          <a:p>
            <a:pPr algn="l">
              <a:lnSpc>
                <a:spcPts val="4218"/>
              </a:lnSpc>
            </a:pPr>
            <a:r>
              <a:rPr lang="en-US" sz="30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ChatGPT/Perplexity/Gemini: Conversational tools that answer questions</a:t>
            </a:r>
          </a:p>
          <a:p>
            <a:pPr algn="l">
              <a:lnSpc>
                <a:spcPts val="4218"/>
              </a:lnSpc>
            </a:pPr>
            <a:r>
              <a:rPr lang="en-US" sz="30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VibeAsk: A complete learning ecosystem with 8 integrated features that transform passive Q&amp;A into active mastery</a:t>
            </a:r>
          </a:p>
          <a:p>
            <a:pPr algn="l">
              <a:lnSpc>
                <a:spcPts val="4218"/>
              </a:lnSpc>
              <a:spcBef>
                <a:spcPct val="0"/>
              </a:spcBef>
            </a:pPr>
            <a:r>
              <a:rPr lang="en-US" sz="30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 higher retention through active learning vs. passive consumption (National Academy of Sciences)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815" y="4250239"/>
            <a:ext cx="5310234" cy="555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  <a:spcBef>
                <a:spcPct val="0"/>
              </a:spcBef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AI Micro-Lesson Generat</a:t>
            </a: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</a:p>
          <a:p>
            <a:pPr algn="l" marL="525450" indent="-262725" lvl="1">
              <a:lnSpc>
                <a:spcPts val="3407"/>
              </a:lnSpc>
              <a:buFont typeface="Arial"/>
              <a:buChar char="•"/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On-demand Manim animations — professional-grade math videos in 30–40 seconds</a:t>
            </a:r>
          </a:p>
          <a:p>
            <a:pPr algn="l" marL="525450" indent="-262725" lvl="1">
              <a:lnSpc>
                <a:spcPts val="3407"/>
              </a:lnSpc>
              <a:buFont typeface="Arial"/>
              <a:buChar char="•"/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Persistent video library — all generated content saved permanently</a:t>
            </a:r>
          </a:p>
          <a:p>
            <a:pPr algn="l" marL="525450" indent="-262725" lvl="1">
              <a:lnSpc>
                <a:spcPts val="3407"/>
              </a:lnSpc>
              <a:spcBef>
                <a:spcPct val="0"/>
              </a:spcBef>
              <a:buFont typeface="Arial"/>
              <a:buChar char="•"/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Searchable transcripts for every video</a:t>
            </a:r>
          </a:p>
          <a:p>
            <a:pPr algn="l">
              <a:lnSpc>
                <a:spcPts val="3407"/>
              </a:lnSpc>
              <a:spcBef>
                <a:spcPct val="0"/>
              </a:spcBef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ChatGPT/Perplexity/Gemini:</a:t>
            </a:r>
          </a:p>
          <a:p>
            <a:pPr algn="l">
              <a:lnSpc>
                <a:spcPts val="3407"/>
              </a:lnSpc>
              <a:spcBef>
                <a:spcPct val="0"/>
              </a:spcBef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respond. They don’t teach</a:t>
            </a:r>
          </a:p>
          <a:p>
            <a:pPr algn="l">
              <a:lnSpc>
                <a:spcPts val="3407"/>
              </a:lnSpc>
              <a:spcBef>
                <a:spcPct val="0"/>
              </a:spcBef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Impact:</a:t>
            </a:r>
          </a:p>
          <a:p>
            <a:pPr algn="l">
              <a:lnSpc>
                <a:spcPts val="3407"/>
              </a:lnSpc>
              <a:spcBef>
                <a:spcPct val="0"/>
              </a:spcBef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VibeAsk is the ONLY AI assistant that not only responds but creates custom educational videos on-demand .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658062" y="4316914"/>
            <a:ext cx="6352902" cy="5880100"/>
            <a:chOff x="0" y="0"/>
            <a:chExt cx="1673192" cy="15486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73192" cy="1548668"/>
            </a:xfrm>
            <a:custGeom>
              <a:avLst/>
              <a:gdLst/>
              <a:ahLst/>
              <a:cxnLst/>
              <a:rect r="r" b="b" t="t" l="l"/>
              <a:pathLst>
                <a:path h="1548668" w="1673192">
                  <a:moveTo>
                    <a:pt x="20717" y="0"/>
                  </a:moveTo>
                  <a:lnTo>
                    <a:pt x="1652475" y="0"/>
                  </a:lnTo>
                  <a:cubicBezTo>
                    <a:pt x="1663917" y="0"/>
                    <a:pt x="1673192" y="9275"/>
                    <a:pt x="1673192" y="20717"/>
                  </a:cubicBezTo>
                  <a:lnTo>
                    <a:pt x="1673192" y="1527951"/>
                  </a:lnTo>
                  <a:cubicBezTo>
                    <a:pt x="1673192" y="1533446"/>
                    <a:pt x="1671010" y="1538715"/>
                    <a:pt x="1667125" y="1542601"/>
                  </a:cubicBezTo>
                  <a:cubicBezTo>
                    <a:pt x="1663239" y="1546486"/>
                    <a:pt x="1657970" y="1548668"/>
                    <a:pt x="1652475" y="1548668"/>
                  </a:cubicBezTo>
                  <a:lnTo>
                    <a:pt x="20717" y="1548668"/>
                  </a:lnTo>
                  <a:cubicBezTo>
                    <a:pt x="15222" y="1548668"/>
                    <a:pt x="9953" y="1546486"/>
                    <a:pt x="6068" y="1542601"/>
                  </a:cubicBezTo>
                  <a:cubicBezTo>
                    <a:pt x="2183" y="1538715"/>
                    <a:pt x="0" y="1533446"/>
                    <a:pt x="0" y="1527951"/>
                  </a:cubicBezTo>
                  <a:lnTo>
                    <a:pt x="0" y="20717"/>
                  </a:lnTo>
                  <a:cubicBezTo>
                    <a:pt x="0" y="9275"/>
                    <a:pt x="9275" y="0"/>
                    <a:pt x="20717" y="0"/>
                  </a:cubicBezTo>
                  <a:close/>
                </a:path>
              </a:pathLst>
            </a:custGeom>
            <a:solidFill>
              <a:srgbClr val="FFDE59">
                <a:alpha val="48627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73192" cy="1586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53827" y="4297484"/>
            <a:ext cx="6215999" cy="5880100"/>
            <a:chOff x="0" y="0"/>
            <a:chExt cx="1637135" cy="15486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37136" cy="1548668"/>
            </a:xfrm>
            <a:custGeom>
              <a:avLst/>
              <a:gdLst/>
              <a:ahLst/>
              <a:cxnLst/>
              <a:rect r="r" b="b" t="t" l="l"/>
              <a:pathLst>
                <a:path h="1548668" w="1637136">
                  <a:moveTo>
                    <a:pt x="21173" y="0"/>
                  </a:moveTo>
                  <a:lnTo>
                    <a:pt x="1615962" y="0"/>
                  </a:lnTo>
                  <a:cubicBezTo>
                    <a:pt x="1621578" y="0"/>
                    <a:pt x="1626963" y="2231"/>
                    <a:pt x="1630934" y="6201"/>
                  </a:cubicBezTo>
                  <a:cubicBezTo>
                    <a:pt x="1634905" y="10172"/>
                    <a:pt x="1637136" y="15558"/>
                    <a:pt x="1637136" y="21173"/>
                  </a:cubicBezTo>
                  <a:lnTo>
                    <a:pt x="1637136" y="1527495"/>
                  </a:lnTo>
                  <a:cubicBezTo>
                    <a:pt x="1637136" y="1539189"/>
                    <a:pt x="1627656" y="1548668"/>
                    <a:pt x="1615962" y="1548668"/>
                  </a:cubicBezTo>
                  <a:lnTo>
                    <a:pt x="21173" y="1548668"/>
                  </a:lnTo>
                  <a:cubicBezTo>
                    <a:pt x="15558" y="1548668"/>
                    <a:pt x="10172" y="1546438"/>
                    <a:pt x="6201" y="1542467"/>
                  </a:cubicBezTo>
                  <a:cubicBezTo>
                    <a:pt x="2231" y="1538496"/>
                    <a:pt x="0" y="1533111"/>
                    <a:pt x="0" y="1527495"/>
                  </a:cubicBezTo>
                  <a:lnTo>
                    <a:pt x="0" y="21173"/>
                  </a:lnTo>
                  <a:cubicBezTo>
                    <a:pt x="0" y="9480"/>
                    <a:pt x="9480" y="0"/>
                    <a:pt x="21173" y="0"/>
                  </a:cubicBezTo>
                  <a:close/>
                </a:path>
              </a:pathLst>
            </a:custGeom>
            <a:solidFill>
              <a:srgbClr val="FFDE59">
                <a:alpha val="48627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37135" cy="1586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791304" y="4259764"/>
            <a:ext cx="6233947" cy="554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  <a:spcBef>
                <a:spcPct val="0"/>
              </a:spcBef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Adaptive AI Tut</a:t>
            </a: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</a:p>
          <a:p>
            <a:pPr algn="l" marL="520963" indent="-260481" lvl="1">
              <a:lnSpc>
                <a:spcPts val="3378"/>
              </a:lnSpc>
              <a:buFont typeface="Arial"/>
              <a:buChar char="•"/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explanations — adjusts depth, pace, and style based on student understanding</a:t>
            </a:r>
          </a:p>
          <a:p>
            <a:pPr algn="l" marL="520963" indent="-260481" lvl="1">
              <a:lnSpc>
                <a:spcPts val="3378"/>
              </a:lnSpc>
              <a:buFont typeface="Arial"/>
              <a:buChar char="•"/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Weak-area targeting — prioritizes concepts where the student repeatedly makes mistakes</a:t>
            </a:r>
          </a:p>
          <a:p>
            <a:pPr algn="l" marL="520963" indent="-260481" lvl="1">
              <a:lnSpc>
                <a:spcPts val="3378"/>
              </a:lnSpc>
              <a:spcBef>
                <a:spcPct val="0"/>
              </a:spcBef>
              <a:buFont typeface="Arial"/>
              <a:buChar char="•"/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Learning-style adaptation — visual, step-wise, or voice-first explanations as needed</a:t>
            </a:r>
          </a:p>
          <a:p>
            <a:pPr algn="l">
              <a:lnSpc>
                <a:spcPts val="3378"/>
              </a:lnSpc>
              <a:spcBef>
                <a:spcPct val="0"/>
              </a:spcBef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⚠</a:t>
            </a: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ChatGPT / Gemini:</a:t>
            </a:r>
          </a:p>
          <a:p>
            <a:pPr algn="l">
              <a:lnSpc>
                <a:spcPts val="3378"/>
              </a:lnSpc>
              <a:spcBef>
                <a:spcPct val="0"/>
              </a:spcBef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Session-based context with limited long-term learning awareness</a:t>
            </a:r>
          </a:p>
          <a:p>
            <a:pPr algn="l">
              <a:lnSpc>
                <a:spcPts val="3378"/>
              </a:lnSpc>
              <a:spcBef>
                <a:spcPct val="0"/>
              </a:spcBef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Perplexity:</a:t>
            </a:r>
          </a:p>
          <a:p>
            <a:pPr algn="l">
              <a:lnSpc>
                <a:spcPts val="3378"/>
              </a:lnSpc>
              <a:spcBef>
                <a:spcPct val="0"/>
              </a:spcBef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Query-based system with no personalization or learning memory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49077" y="4250049"/>
            <a:ext cx="6215999" cy="595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463" indent="-259731" lvl="1">
              <a:lnSpc>
                <a:spcPts val="3368"/>
              </a:lnSpc>
              <a:buAutoNum type="arabicPeriod" startAt="1"/>
            </a:pPr>
            <a:r>
              <a:rPr lang="en-US" sz="24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Textbook Intelligence M</a:t>
            </a:r>
            <a:r>
              <a:rPr lang="en-US" sz="24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</a:t>
            </a:r>
          </a:p>
          <a:p>
            <a:pPr algn="l" marL="519463" indent="-259731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ColPali-powered retrieval — searches both text and images inside uploaded documents</a:t>
            </a:r>
          </a:p>
          <a:p>
            <a:pPr algn="l" marL="519463" indent="-259731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diagram grounding — relevant figures and visuals appear directly in responses</a:t>
            </a:r>
          </a:p>
          <a:p>
            <a:pPr algn="l" marL="519463" indent="-259731" lvl="1">
              <a:lnSpc>
                <a:spcPts val="3368"/>
              </a:lnSpc>
              <a:spcBef>
                <a:spcPct val="0"/>
              </a:spcBef>
              <a:buFont typeface="Arial"/>
              <a:buChar char="•"/>
            </a:pPr>
            <a:r>
              <a:rPr lang="en-US" sz="24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for textbooks, notes, PDFs, and scanned material</a:t>
            </a:r>
          </a:p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⚠</a:t>
            </a:r>
            <a:r>
              <a:rPr lang="en-US" sz="24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ChatGPT:</a:t>
            </a:r>
          </a:p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Limited document upload and weak long-term library memory</a:t>
            </a:r>
          </a:p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⚠ Gemini:</a:t>
            </a:r>
          </a:p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Basic document handling without true multimodal (text + image) retrieval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91606" y="-442662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030" y="2099558"/>
            <a:ext cx="5755594" cy="7506717"/>
            <a:chOff x="0" y="0"/>
            <a:chExt cx="1515877" cy="19770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15877" cy="1977078"/>
            </a:xfrm>
            <a:custGeom>
              <a:avLst/>
              <a:gdLst/>
              <a:ahLst/>
              <a:cxnLst/>
              <a:rect r="r" b="b" t="t" l="l"/>
              <a:pathLst>
                <a:path h="1977078" w="1515877">
                  <a:moveTo>
                    <a:pt x="22867" y="0"/>
                  </a:moveTo>
                  <a:lnTo>
                    <a:pt x="1493010" y="0"/>
                  </a:lnTo>
                  <a:cubicBezTo>
                    <a:pt x="1499075" y="0"/>
                    <a:pt x="1504891" y="2409"/>
                    <a:pt x="1509179" y="6698"/>
                  </a:cubicBezTo>
                  <a:cubicBezTo>
                    <a:pt x="1513468" y="10986"/>
                    <a:pt x="1515877" y="16802"/>
                    <a:pt x="1515877" y="22867"/>
                  </a:cubicBezTo>
                  <a:lnTo>
                    <a:pt x="1515877" y="1954211"/>
                  </a:lnTo>
                  <a:cubicBezTo>
                    <a:pt x="1515877" y="1960276"/>
                    <a:pt x="1513468" y="1966092"/>
                    <a:pt x="1509179" y="1970380"/>
                  </a:cubicBezTo>
                  <a:cubicBezTo>
                    <a:pt x="1504891" y="1974669"/>
                    <a:pt x="1499075" y="1977078"/>
                    <a:pt x="1493010" y="1977078"/>
                  </a:cubicBezTo>
                  <a:lnTo>
                    <a:pt x="22867" y="1977078"/>
                  </a:lnTo>
                  <a:cubicBezTo>
                    <a:pt x="16802" y="1977078"/>
                    <a:pt x="10986" y="1974669"/>
                    <a:pt x="6698" y="1970380"/>
                  </a:cubicBezTo>
                  <a:cubicBezTo>
                    <a:pt x="2409" y="1966092"/>
                    <a:pt x="0" y="1960276"/>
                    <a:pt x="0" y="1954211"/>
                  </a:cubicBezTo>
                  <a:lnTo>
                    <a:pt x="0" y="22867"/>
                  </a:lnTo>
                  <a:cubicBezTo>
                    <a:pt x="0" y="16802"/>
                    <a:pt x="2409" y="10986"/>
                    <a:pt x="6698" y="6698"/>
                  </a:cubicBezTo>
                  <a:cubicBezTo>
                    <a:pt x="10986" y="2409"/>
                    <a:pt x="16802" y="0"/>
                    <a:pt x="22867" y="0"/>
                  </a:cubicBezTo>
                  <a:close/>
                </a:path>
              </a:pathLst>
            </a:custGeom>
            <a:solidFill>
              <a:srgbClr val="CCCCCC">
                <a:alpha val="4588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15877" cy="2015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11581" y="1496306"/>
            <a:ext cx="2854124" cy="988358"/>
            <a:chOff x="0" y="0"/>
            <a:chExt cx="795323" cy="2754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5323" cy="275414"/>
            </a:xfrm>
            <a:custGeom>
              <a:avLst/>
              <a:gdLst/>
              <a:ahLst/>
              <a:cxnLst/>
              <a:rect r="r" b="b" t="t" l="l"/>
              <a:pathLst>
                <a:path h="275414" w="795323">
                  <a:moveTo>
                    <a:pt x="592123" y="0"/>
                  </a:moveTo>
                  <a:cubicBezTo>
                    <a:pt x="704348" y="0"/>
                    <a:pt x="795323" y="61653"/>
                    <a:pt x="795323" y="137707"/>
                  </a:cubicBezTo>
                  <a:cubicBezTo>
                    <a:pt x="795323" y="213760"/>
                    <a:pt x="704348" y="275414"/>
                    <a:pt x="592123" y="275414"/>
                  </a:cubicBezTo>
                  <a:lnTo>
                    <a:pt x="203200" y="275414"/>
                  </a:lnTo>
                  <a:cubicBezTo>
                    <a:pt x="90976" y="275414"/>
                    <a:pt x="0" y="213760"/>
                    <a:pt x="0" y="137707"/>
                  </a:cubicBezTo>
                  <a:cubicBezTo>
                    <a:pt x="0" y="6165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95323" cy="313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096686" y="1562981"/>
            <a:ext cx="2170271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2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Free plan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0663" y="2361438"/>
            <a:ext cx="5364739" cy="6896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onthly Limits: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 chat messages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whiteboard sessions (10 min each)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video generations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flashcards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document upload (max 10 MB)</a:t>
            </a:r>
          </a:p>
          <a:p>
            <a:pPr algn="l" marL="560222" indent="-280111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quizzes</a:t>
            </a:r>
          </a:p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chat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whiteboard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videos in library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Aryabhatta Mode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Library Mode (just 1 doc)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calendar integration</a:t>
            </a:r>
          </a:p>
          <a:p>
            <a:pPr algn="l" marL="560222" indent="-280111" lvl="1">
              <a:lnSpc>
                <a:spcPts val="3632"/>
              </a:lnSpc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spaced repetition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049599" y="2105344"/>
            <a:ext cx="6284935" cy="7500931"/>
            <a:chOff x="0" y="0"/>
            <a:chExt cx="1655291" cy="19755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5291" cy="1975554"/>
            </a:xfrm>
            <a:custGeom>
              <a:avLst/>
              <a:gdLst/>
              <a:ahLst/>
              <a:cxnLst/>
              <a:rect r="r" b="b" t="t" l="l"/>
              <a:pathLst>
                <a:path h="1975554" w="1655291">
                  <a:moveTo>
                    <a:pt x="20941" y="0"/>
                  </a:moveTo>
                  <a:lnTo>
                    <a:pt x="1634350" y="0"/>
                  </a:lnTo>
                  <a:cubicBezTo>
                    <a:pt x="1645916" y="0"/>
                    <a:pt x="1655291" y="9376"/>
                    <a:pt x="1655291" y="20941"/>
                  </a:cubicBezTo>
                  <a:lnTo>
                    <a:pt x="1655291" y="1954613"/>
                  </a:lnTo>
                  <a:cubicBezTo>
                    <a:pt x="1655291" y="1966178"/>
                    <a:pt x="1645916" y="1975554"/>
                    <a:pt x="1634350" y="1975554"/>
                  </a:cubicBezTo>
                  <a:lnTo>
                    <a:pt x="20941" y="1975554"/>
                  </a:lnTo>
                  <a:cubicBezTo>
                    <a:pt x="9376" y="1975554"/>
                    <a:pt x="0" y="1966178"/>
                    <a:pt x="0" y="1954613"/>
                  </a:cubicBezTo>
                  <a:lnTo>
                    <a:pt x="0" y="20941"/>
                  </a:lnTo>
                  <a:cubicBezTo>
                    <a:pt x="0" y="9376"/>
                    <a:pt x="9376" y="0"/>
                    <a:pt x="20941" y="0"/>
                  </a:cubicBezTo>
                  <a:close/>
                </a:path>
              </a:pathLst>
            </a:custGeom>
            <a:solidFill>
              <a:srgbClr val="CCCCCC">
                <a:alpha val="4588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55291" cy="2013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610091" y="1527125"/>
            <a:ext cx="3489124" cy="988358"/>
            <a:chOff x="0" y="0"/>
            <a:chExt cx="972271" cy="2754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2271" cy="275414"/>
            </a:xfrm>
            <a:custGeom>
              <a:avLst/>
              <a:gdLst/>
              <a:ahLst/>
              <a:cxnLst/>
              <a:rect r="r" b="b" t="t" l="l"/>
              <a:pathLst>
                <a:path h="275414" w="972271">
                  <a:moveTo>
                    <a:pt x="769071" y="0"/>
                  </a:moveTo>
                  <a:cubicBezTo>
                    <a:pt x="881295" y="0"/>
                    <a:pt x="972271" y="61653"/>
                    <a:pt x="972271" y="137707"/>
                  </a:cubicBezTo>
                  <a:cubicBezTo>
                    <a:pt x="972271" y="213760"/>
                    <a:pt x="881295" y="275414"/>
                    <a:pt x="769071" y="275414"/>
                  </a:cubicBezTo>
                  <a:lnTo>
                    <a:pt x="203200" y="275414"/>
                  </a:lnTo>
                  <a:cubicBezTo>
                    <a:pt x="90976" y="275414"/>
                    <a:pt x="0" y="213760"/>
                    <a:pt x="0" y="137707"/>
                  </a:cubicBezTo>
                  <a:cubicBezTo>
                    <a:pt x="0" y="6165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72271" cy="313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048750" y="1593610"/>
            <a:ext cx="2772132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2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Plan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12332" y="2320686"/>
            <a:ext cx="6074577" cy="725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  <a:spcBef>
                <a:spcPct val="0"/>
              </a:spcBef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onthly Limits:</a:t>
            </a:r>
          </a:p>
          <a:p>
            <a:pPr algn="l" marL="559571" indent="-279786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Unlimited chat messages</a:t>
            </a:r>
          </a:p>
          <a:p>
            <a:pPr algn="l" marL="559571" indent="-279786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Unlimited whiteboard sessions</a:t>
            </a:r>
          </a:p>
          <a:p>
            <a:pPr algn="l" marL="559571" indent="-279786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video generations/month</a:t>
            </a:r>
          </a:p>
          <a:p>
            <a:pPr algn="l" marL="559571" indent="-279786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Unlimited flashcards + spaced repetition</a:t>
            </a:r>
          </a:p>
          <a:p>
            <a:pPr algn="l" marL="559571" indent="-279786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document uploads (100 MB total)</a:t>
            </a:r>
          </a:p>
          <a:p>
            <a:pPr algn="l" marL="559571" indent="-279786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Unlimited quizzes</a:t>
            </a:r>
          </a:p>
          <a:p>
            <a:pPr algn="l" marL="559571" indent="-279786" lvl="1">
              <a:lnSpc>
                <a:spcPts val="3628"/>
              </a:lnSpc>
              <a:spcBef>
                <a:spcPct val="0"/>
              </a:spcBef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Calendar integration</a:t>
            </a:r>
          </a:p>
          <a:p>
            <a:pPr algn="l">
              <a:lnSpc>
                <a:spcPts val="3628"/>
              </a:lnSpc>
              <a:spcBef>
                <a:spcPct val="0"/>
              </a:spcBef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</a:p>
          <a:p>
            <a:pPr algn="l">
              <a:lnSpc>
                <a:spcPts val="3628"/>
              </a:lnSpc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Full</a:t>
            </a: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chat + whiteboard</a:t>
            </a:r>
          </a:p>
          <a:p>
            <a:pPr algn="l">
              <a:lnSpc>
                <a:spcPts val="3628"/>
              </a:lnSpc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Aryabhatta Mode enabled</a:t>
            </a:r>
          </a:p>
          <a:p>
            <a:pPr algn="l">
              <a:lnSpc>
                <a:spcPts val="3628"/>
              </a:lnSpc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Library Mode (up to 10 docs)</a:t>
            </a:r>
          </a:p>
          <a:p>
            <a:pPr algn="l">
              <a:lnSpc>
                <a:spcPts val="3628"/>
              </a:lnSpc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Video library (up to 50 videos)</a:t>
            </a:r>
          </a:p>
          <a:p>
            <a:pPr algn="l">
              <a:lnSpc>
                <a:spcPts val="3628"/>
              </a:lnSpc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Full RAG with knowledge base </a:t>
            </a:r>
          </a:p>
          <a:p>
            <a:pPr algn="l">
              <a:lnSpc>
                <a:spcPts val="3628"/>
              </a:lnSpc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Price: ₹299/month or ₹2,999/year (2 months free)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515509" y="2166330"/>
            <a:ext cx="5620091" cy="7500931"/>
            <a:chOff x="0" y="0"/>
            <a:chExt cx="1480189" cy="19755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80189" cy="1975554"/>
            </a:xfrm>
            <a:custGeom>
              <a:avLst/>
              <a:gdLst/>
              <a:ahLst/>
              <a:cxnLst/>
              <a:rect r="r" b="b" t="t" l="l"/>
              <a:pathLst>
                <a:path h="1975554" w="1480189">
                  <a:moveTo>
                    <a:pt x="23418" y="0"/>
                  </a:moveTo>
                  <a:lnTo>
                    <a:pt x="1456770" y="0"/>
                  </a:lnTo>
                  <a:cubicBezTo>
                    <a:pt x="1462981" y="0"/>
                    <a:pt x="1468938" y="2467"/>
                    <a:pt x="1473330" y="6859"/>
                  </a:cubicBezTo>
                  <a:cubicBezTo>
                    <a:pt x="1477721" y="11251"/>
                    <a:pt x="1480189" y="17207"/>
                    <a:pt x="1480189" y="23418"/>
                  </a:cubicBezTo>
                  <a:lnTo>
                    <a:pt x="1480189" y="1952135"/>
                  </a:lnTo>
                  <a:cubicBezTo>
                    <a:pt x="1480189" y="1965069"/>
                    <a:pt x="1469704" y="1975554"/>
                    <a:pt x="1456770" y="1975554"/>
                  </a:cubicBezTo>
                  <a:lnTo>
                    <a:pt x="23418" y="1975554"/>
                  </a:lnTo>
                  <a:cubicBezTo>
                    <a:pt x="17207" y="1975554"/>
                    <a:pt x="11251" y="1973086"/>
                    <a:pt x="6859" y="1968695"/>
                  </a:cubicBezTo>
                  <a:cubicBezTo>
                    <a:pt x="2467" y="1964303"/>
                    <a:pt x="0" y="1958346"/>
                    <a:pt x="0" y="1952135"/>
                  </a:cubicBezTo>
                  <a:lnTo>
                    <a:pt x="0" y="23418"/>
                  </a:lnTo>
                  <a:cubicBezTo>
                    <a:pt x="0" y="17207"/>
                    <a:pt x="2467" y="11251"/>
                    <a:pt x="6859" y="6859"/>
                  </a:cubicBezTo>
                  <a:cubicBezTo>
                    <a:pt x="11251" y="2467"/>
                    <a:pt x="17207" y="0"/>
                    <a:pt x="23418" y="0"/>
                  </a:cubicBezTo>
                  <a:close/>
                </a:path>
              </a:pathLst>
            </a:custGeom>
            <a:solidFill>
              <a:srgbClr val="CCCCCC">
                <a:alpha val="45882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80189" cy="2013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59731" y="1418053"/>
            <a:ext cx="2803324" cy="988358"/>
            <a:chOff x="0" y="0"/>
            <a:chExt cx="781168" cy="2754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1168" cy="275414"/>
            </a:xfrm>
            <a:custGeom>
              <a:avLst/>
              <a:gdLst/>
              <a:ahLst/>
              <a:cxnLst/>
              <a:rect r="r" b="b" t="t" l="l"/>
              <a:pathLst>
                <a:path h="275414" w="781168">
                  <a:moveTo>
                    <a:pt x="577968" y="0"/>
                  </a:moveTo>
                  <a:cubicBezTo>
                    <a:pt x="690192" y="0"/>
                    <a:pt x="781168" y="61653"/>
                    <a:pt x="781168" y="137707"/>
                  </a:cubicBezTo>
                  <a:cubicBezTo>
                    <a:pt x="781168" y="213760"/>
                    <a:pt x="690192" y="275414"/>
                    <a:pt x="577968" y="275414"/>
                  </a:cubicBezTo>
                  <a:lnTo>
                    <a:pt x="203200" y="275414"/>
                  </a:lnTo>
                  <a:cubicBezTo>
                    <a:pt x="90976" y="275414"/>
                    <a:pt x="0" y="213760"/>
                    <a:pt x="0" y="137707"/>
                  </a:cubicBezTo>
                  <a:cubicBezTo>
                    <a:pt x="0" y="6165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81168" cy="313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325860" y="1562981"/>
            <a:ext cx="187106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2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 Plan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53609" y="2225436"/>
            <a:ext cx="6074577" cy="7316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  <a:spcBef>
                <a:spcPct val="0"/>
              </a:spcBef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onthly Limits:</a:t>
            </a:r>
          </a:p>
          <a:p>
            <a:pPr algn="l" marL="559571" indent="-279785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Everything in Student Plan PLUS:</a:t>
            </a:r>
          </a:p>
          <a:p>
            <a:pPr algn="l" marL="559571" indent="-279785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video generations/month</a:t>
            </a:r>
          </a:p>
          <a:p>
            <a:pPr algn="l" marL="559571" indent="-279785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 document uploads (1 GB total)</a:t>
            </a:r>
          </a:p>
          <a:p>
            <a:pPr algn="l" marL="559571" indent="-279785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collaboration (up to 3 members)</a:t>
            </a:r>
          </a:p>
          <a:p>
            <a:pPr algn="l" marL="559571" indent="-279785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 notes/flashcards (PDF, Anki)</a:t>
            </a:r>
          </a:p>
          <a:p>
            <a:pPr algn="l" marL="559571" indent="-279785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analytics (study time, </a:t>
            </a:r>
          </a:p>
          <a:p>
            <a:pPr algn="l">
              <a:lnSpc>
                <a:spcPts val="3628"/>
              </a:lnSpc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progress tracking)</a:t>
            </a:r>
          </a:p>
          <a:p>
            <a:pPr algn="l">
              <a:lnSpc>
                <a:spcPts val="3628"/>
              </a:lnSpc>
              <a:spcBef>
                <a:spcPct val="0"/>
              </a:spcBef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</a:p>
          <a:p>
            <a:pPr algn="l" marL="559571" indent="-279785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Student features</a:t>
            </a:r>
          </a:p>
          <a:p>
            <a:pPr algn="l" marL="559571" indent="-279785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Extended Library Mode (50 docs)</a:t>
            </a:r>
          </a:p>
          <a:p>
            <a:pPr algn="l" marL="559571" indent="-279785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library (unlimited)</a:t>
            </a:r>
          </a:p>
          <a:p>
            <a:pPr algn="l" marL="559571" indent="-279785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Collaboration features</a:t>
            </a:r>
          </a:p>
          <a:p>
            <a:pPr algn="l" marL="559571" indent="-279785" lvl="1">
              <a:lnSpc>
                <a:spcPts val="3628"/>
              </a:lnSpc>
              <a:buFont typeface="Arial"/>
              <a:buChar char="•"/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export</a:t>
            </a:r>
          </a:p>
          <a:p>
            <a:pPr algn="l">
              <a:lnSpc>
                <a:spcPts val="3628"/>
              </a:lnSpc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Price: ₹749/month or ₹7,499/year (2 </a:t>
            </a:r>
          </a:p>
          <a:p>
            <a:pPr algn="l">
              <a:lnSpc>
                <a:spcPts val="3628"/>
              </a:lnSpc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months free)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830" y="1751583"/>
            <a:ext cx="10556194" cy="8294117"/>
            <a:chOff x="0" y="0"/>
            <a:chExt cx="2780232" cy="2184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0232" cy="2184459"/>
            </a:xfrm>
            <a:custGeom>
              <a:avLst/>
              <a:gdLst/>
              <a:ahLst/>
              <a:cxnLst/>
              <a:rect r="r" b="b" t="t" l="l"/>
              <a:pathLst>
                <a:path h="2184459" w="2780232">
                  <a:moveTo>
                    <a:pt x="12468" y="0"/>
                  </a:moveTo>
                  <a:lnTo>
                    <a:pt x="2767764" y="0"/>
                  </a:lnTo>
                  <a:cubicBezTo>
                    <a:pt x="2774650" y="0"/>
                    <a:pt x="2780232" y="5582"/>
                    <a:pt x="2780232" y="12468"/>
                  </a:cubicBezTo>
                  <a:lnTo>
                    <a:pt x="2780232" y="2171991"/>
                  </a:lnTo>
                  <a:cubicBezTo>
                    <a:pt x="2780232" y="2175298"/>
                    <a:pt x="2778919" y="2178469"/>
                    <a:pt x="2776581" y="2180807"/>
                  </a:cubicBezTo>
                  <a:cubicBezTo>
                    <a:pt x="2774242" y="2183145"/>
                    <a:pt x="2771071" y="2184459"/>
                    <a:pt x="2767764" y="2184459"/>
                  </a:cubicBezTo>
                  <a:lnTo>
                    <a:pt x="12468" y="2184459"/>
                  </a:lnTo>
                  <a:cubicBezTo>
                    <a:pt x="9161" y="2184459"/>
                    <a:pt x="5990" y="2183145"/>
                    <a:pt x="3652" y="2180807"/>
                  </a:cubicBezTo>
                  <a:cubicBezTo>
                    <a:pt x="1314" y="2178469"/>
                    <a:pt x="0" y="2175298"/>
                    <a:pt x="0" y="2171991"/>
                  </a:cubicBezTo>
                  <a:lnTo>
                    <a:pt x="0" y="12468"/>
                  </a:lnTo>
                  <a:cubicBezTo>
                    <a:pt x="0" y="9161"/>
                    <a:pt x="1314" y="5990"/>
                    <a:pt x="3652" y="3652"/>
                  </a:cubicBezTo>
                  <a:cubicBezTo>
                    <a:pt x="5990" y="1314"/>
                    <a:pt x="9161" y="0"/>
                    <a:pt x="12468" y="0"/>
                  </a:cubicBezTo>
                  <a:close/>
                </a:path>
              </a:pathLst>
            </a:custGeom>
            <a:solidFill>
              <a:srgbClr val="CCCCCC">
                <a:alpha val="2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80232" cy="2222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036006" y="-121987"/>
            <a:ext cx="6043708" cy="2240594"/>
            <a:chOff x="0" y="0"/>
            <a:chExt cx="8058277" cy="29874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1380424" y="2324100"/>
          <a:ext cx="6210300" cy="6334125"/>
        </p:xfrm>
        <a:graphic>
          <a:graphicData uri="http://schemas.openxmlformats.org/drawingml/2006/table">
            <a:tbl>
              <a:tblPr/>
              <a:tblGrid>
                <a:gridCol w="1993430"/>
                <a:gridCol w="4216870"/>
              </a:tblGrid>
              <a:tr h="12042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Percetage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24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Free Users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100% (10,000 target in Year 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19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Free → Student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5% (500 users)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31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Free → Pro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0.5% (50 users)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24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 → Pro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10% (50 additional users)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3902492" y="364806"/>
            <a:ext cx="5657017" cy="116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  <a:spcBef>
                <a:spcPct val="0"/>
              </a:spcBef>
            </a:pPr>
            <a:r>
              <a:rPr lang="en-US" b="true" sz="6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Enterprise Plan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500" y="1675383"/>
            <a:ext cx="10173924" cy="874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What’s Incl</a:t>
            </a: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uded: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White-label integration into institute's platform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branding (logo, colors, domain)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Unlimited users within institution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Pre-loaded course materials (institute's textbooks, modules)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Dedicated Aryabhatta Mode fine-tuned on institute's curriculum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dashboard with student analytics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SSO (Single Sign-On) integration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infrastructure (dedicated servers)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SLA: 99.9% uptime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Dedicated account manager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feature development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On-premise deployment option (for data sovereignty)</a:t>
            </a:r>
          </a:p>
          <a:p>
            <a:pPr algn="l">
              <a:lnSpc>
                <a:spcPts val="4105"/>
              </a:lnSpc>
            </a:pPr>
          </a:p>
          <a:p>
            <a:pPr algn="l">
              <a:lnSpc>
                <a:spcPts val="4105"/>
              </a:lnSpc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Pricing Model :</a:t>
            </a:r>
          </a:p>
          <a:p>
            <a:pPr algn="l" marL="633072" indent="-316536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Active Student: ₹189/month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202650" y="1454085"/>
            <a:ext cx="6194465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3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onversion Funnel Assumption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34500" y="657225"/>
            <a:ext cx="9219000" cy="105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6"/>
              </a:lnSpc>
            </a:pPr>
            <a:r>
              <a:rPr lang="en-US" sz="59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Video Submission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6006" y="-141037"/>
            <a:ext cx="6043708" cy="2240594"/>
            <a:chOff x="0" y="0"/>
            <a:chExt cx="8058277" cy="298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8277" cy="2987421"/>
            </a:xfrm>
            <a:custGeom>
              <a:avLst/>
              <a:gdLst/>
              <a:ahLst/>
              <a:cxnLst/>
              <a:rect r="r" b="b" t="t" l="l"/>
              <a:pathLst>
                <a:path h="2987421" w="8058277">
                  <a:moveTo>
                    <a:pt x="0" y="0"/>
                  </a:moveTo>
                  <a:lnTo>
                    <a:pt x="8058277" y="0"/>
                  </a:lnTo>
                  <a:lnTo>
                    <a:pt x="8058277" y="2987421"/>
                  </a:lnTo>
                  <a:lnTo>
                    <a:pt x="0" y="2987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76550" y="4371975"/>
            <a:ext cx="12814300" cy="2406650"/>
            <a:chOff x="0" y="0"/>
            <a:chExt cx="3374960" cy="633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74960" cy="633850"/>
            </a:xfrm>
            <a:custGeom>
              <a:avLst/>
              <a:gdLst/>
              <a:ahLst/>
              <a:cxnLst/>
              <a:rect r="r" b="b" t="t" l="l"/>
              <a:pathLst>
                <a:path h="633850" w="3374960">
                  <a:moveTo>
                    <a:pt x="3374960" y="0"/>
                  </a:moveTo>
                  <a:lnTo>
                    <a:pt x="0" y="0"/>
                  </a:lnTo>
                  <a:lnTo>
                    <a:pt x="101600" y="316925"/>
                  </a:lnTo>
                  <a:lnTo>
                    <a:pt x="0" y="633850"/>
                  </a:lnTo>
                  <a:lnTo>
                    <a:pt x="3374960" y="633850"/>
                  </a:lnTo>
                  <a:lnTo>
                    <a:pt x="3273360" y="316925"/>
                  </a:lnTo>
                  <a:lnTo>
                    <a:pt x="337496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8900" y="-38100"/>
              <a:ext cx="3197160" cy="67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422622" y="2105342"/>
            <a:ext cx="7823756" cy="208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78"/>
              </a:lnSpc>
              <a:spcBef>
                <a:spcPct val="0"/>
              </a:spcBef>
            </a:pPr>
            <a:r>
              <a:rPr lang="en-US" sz="1219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0122" y="4391342"/>
            <a:ext cx="14808756" cy="208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78"/>
              </a:lnSpc>
              <a:spcBef>
                <a:spcPct val="0"/>
              </a:spcBef>
            </a:pPr>
            <a:r>
              <a:rPr lang="en-US" sz="1219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Team Dhurandhar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DAHGz5sNvwo</dc:identifier>
  <dcterms:modified xsi:type="dcterms:W3CDTF">2011-08-01T06:04:30Z</dcterms:modified>
  <cp:revision>1</cp:revision>
  <dc:title>Resonance '26_IEEE_PPT_TEMPLATE.pptx</dc:title>
</cp:coreProperties>
</file>